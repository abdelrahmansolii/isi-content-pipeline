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Space Grotesk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f2765d46-3b50-439e-a8b4-730dd74fc372.fntdata" /><ns0:Relationship Id="rIdFont20" Type="http://schemas.openxmlformats.org/officeDocument/2006/relationships/font" Target="fonts/5fa05747-19e7-4670-8c64-8d5abab292d4.fntdata" /><ns0:Relationship Id="rIdFont21" Type="http://schemas.openxmlformats.org/officeDocument/2006/relationships/font" Target="fonts/27fc8bdd-de7f-4d2a-b2f7-74c9e3fbb3f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207073"/>
            <a:ext cx="7162800" cy="733425"/>
          </a:xfrm>
          <a:prstGeom prst="roundRect">
            <a:avLst>
              <a:gd name="adj" fmla="val 1558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917352"/>
            <a:ext cx="2495550" cy="30480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9525">
            <a:solidFill>
              <a:srgbClr val="1A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62275" y="4407098"/>
            <a:ext cx="9525" cy="3333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81600" y="4407098"/>
            <a:ext cx="9525" cy="3333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4478535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4478535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925" y="4478535"/>
            <a:ext cx="2381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450752"/>
            <a:ext cx="10626328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AI Engineering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54573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8B949E"/>
                </a:solidFill>
                <a:latin typeface="Inter"/>
              </a:rPr>
              <a:t>A comprehensive production-ready training track engineered to transform software developers into specialized AI Engineers.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1974502"/>
            <a:ext cx="2324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8A6FF"/>
                </a:solidFill>
                <a:latin typeface="Space Grotesk"/>
              </a:rPr>
              <a:t>ACADEMIC CURRICULUM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1850" y="1988790"/>
            <a:ext cx="228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B949E"/>
                </a:solidFill>
                <a:latin typeface="Inter"/>
              </a:rPr>
              <a:t>• 12-Week Intensive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3975" y="4407098"/>
            <a:ext cx="1666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8B949E"/>
                </a:solidFill>
                <a:latin typeface="Inter"/>
              </a:rPr>
              <a:t>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3975" y="4549973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0F6FC"/>
                </a:solidFill>
                <a:latin typeface="Inter"/>
              </a:rPr>
              <a:t>3 Sessions /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400" y="4407098"/>
            <a:ext cx="16192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8B949E"/>
                </a:solidFill>
                <a:latin typeface="Inter"/>
              </a:rPr>
              <a:t>SESSION LENGTH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4549973"/>
            <a:ext cx="161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0F6FC"/>
                </a:solidFill>
                <a:latin typeface="Inter"/>
              </a:rPr>
              <a:t>3 Hours /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8350" y="4407098"/>
            <a:ext cx="22502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8B949E"/>
                </a:solidFill>
                <a:latin typeface="Inter"/>
              </a:rPr>
              <a:t>TOTAL CONTACT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8350" y="4549973"/>
            <a:ext cx="2250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0F6FC"/>
                </a:solidFill>
                <a:latin typeface="Inter"/>
              </a:rPr>
              <a:t>108 Hours (36 Sessions)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4656"/>
            <a:ext cx="3505200" cy="1919287"/>
          </a:xfrm>
          <a:prstGeom prst="roundRect">
            <a:avLst>
              <a:gd name="adj" fmla="val 5955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4656"/>
            <a:ext cx="3505200" cy="1919287"/>
          </a:xfrm>
          <a:prstGeom prst="roundRect">
            <a:avLst>
              <a:gd name="adj" fmla="val 5955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64656"/>
            <a:ext cx="3505200" cy="1919287"/>
          </a:xfrm>
          <a:prstGeom prst="roundRect">
            <a:avLst>
              <a:gd name="adj" fmla="val 5955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40881"/>
            <a:ext cx="2381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40881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40881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D1117"/>
                </a:solidFill>
                <a:latin typeface="Space Grotesk"/>
              </a:rPr>
              <a:t>Program Delivery Model &amp;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90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7606A"/>
                </a:solidFill>
                <a:latin typeface="Inter"/>
              </a:rPr>
              <a:t>A rigorous 108-hour structure designed to balance core theory, live coding, and domain exploration.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59981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F2328"/>
                </a:solidFill>
                <a:latin typeface="Inter"/>
              </a:rPr>
              <a:t>3 Sessions Per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64781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7606A"/>
                </a:solidFill>
                <a:latin typeface="Inter"/>
              </a:rPr>
              <a:t>Optimal cadence providing consistent momentum while allowing dedicated time for self-directed coding labs.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59981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F2328"/>
                </a:solidFill>
                <a:latin typeface="Inter"/>
              </a:rPr>
              <a:t>3 Hours Per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64781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7606A"/>
                </a:solidFill>
                <a:latin typeface="Inter"/>
              </a:rPr>
              <a:t>Every session includes interactive theory, step-by-step instructor code-alongs, and hands-on lab challenges.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59981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F2328"/>
                </a:solidFill>
                <a:latin typeface="Inter"/>
              </a:rPr>
              <a:t>36 Total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64781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7606A"/>
                </a:solidFill>
                <a:latin typeface="Inter"/>
              </a:rPr>
              <a:t>Delivered across 12 milestone-driven weeks, advancing from core foundations to specialized domain selection.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050" y="590550"/>
            <a:ext cx="1276350" cy="266700"/>
          </a:xfrm>
          <a:prstGeom prst="roundRect">
            <a:avLst>
              <a:gd name="adj" fmla="val 21428"/>
            </a:avLst>
          </a:prstGeom>
          <a:solidFill>
            <a:srgbClr val="D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33737"/>
            <a:ext cx="3555950" cy="1114425"/>
          </a:xfrm>
          <a:prstGeom prst="roundRect">
            <a:avLst>
              <a:gd name="adj" fmla="val 683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7950" y="3233737"/>
            <a:ext cx="3555950" cy="1114425"/>
          </a:xfrm>
          <a:prstGeom prst="roundRect">
            <a:avLst>
              <a:gd name="adj" fmla="val 683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3233737"/>
            <a:ext cx="3556099" cy="1114425"/>
          </a:xfrm>
          <a:prstGeom prst="roundRect">
            <a:avLst>
              <a:gd name="adj" fmla="val 683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6400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969DA"/>
                </a:solidFill>
                <a:latin typeface="Inter"/>
              </a:rPr>
              <a:t>MODULE 1 • WEEKS 1 TO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0350" y="6477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969DA"/>
                </a:solidFill>
                <a:latin typeface="Inter"/>
              </a:rPr>
              <a:t>27 Contact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7700"/>
            <a:ext cx="827603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D1117"/>
                </a:solidFill>
                <a:latin typeface="Space Grotesk"/>
              </a:rPr>
              <a:t>AI Foundations &amp; Data Engineering (Sessions 1–9)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395662"/>
            <a:ext cx="42421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969DA"/>
                </a:solidFill>
                <a:latin typeface="Inter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652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S1: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Python Environments &amp; Advanced Syntax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8433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S2: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NumPy Vectorized Computing &amp; Tensors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033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S3: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Pandas Wrangling &amp; Data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9875" y="3395662"/>
            <a:ext cx="42421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969DA"/>
                </a:solidFill>
                <a:latin typeface="Inter"/>
              </a:rP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9875" y="3652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S4: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Exploratory Data Analysis &amp; 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9875" y="38433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S5: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Feature Engineering &amp; Scaling 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9875" y="4033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S6: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Missing Data Imputation &amp; Outliers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8225" y="3395662"/>
            <a:ext cx="40037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969DA"/>
                </a:solidFill>
                <a:latin typeface="Inter"/>
              </a:rP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8225" y="3652837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S7: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Applied Linear Algebra for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225" y="3843337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S8: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Multivariable Calculus &amp; Gradients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225" y="4033837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S9: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Probability &amp; Inferential Statistics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050" y="590550"/>
            <a:ext cx="1276350" cy="266700"/>
          </a:xfrm>
          <a:prstGeom prst="roundRect">
            <a:avLst>
              <a:gd name="adj" fmla="val 21428"/>
            </a:avLst>
          </a:prstGeom>
          <a:solidFill>
            <a:srgbClr val="DAF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33737"/>
            <a:ext cx="3555950" cy="1114425"/>
          </a:xfrm>
          <a:prstGeom prst="roundRect">
            <a:avLst>
              <a:gd name="adj" fmla="val 683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7950" y="3233737"/>
            <a:ext cx="3555950" cy="1114425"/>
          </a:xfrm>
          <a:prstGeom prst="roundRect">
            <a:avLst>
              <a:gd name="adj" fmla="val 683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3233737"/>
            <a:ext cx="3556099" cy="1114425"/>
          </a:xfrm>
          <a:prstGeom prst="roundRect">
            <a:avLst>
              <a:gd name="adj" fmla="val 683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66865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A7F37"/>
                </a:solidFill>
                <a:latin typeface="Inter"/>
              </a:rPr>
              <a:t>MODULE 2 • WEEKS 4 TO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0350" y="6477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A7F37"/>
                </a:solidFill>
                <a:latin typeface="Inter"/>
              </a:rPr>
              <a:t>27 Contact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7700"/>
            <a:ext cx="8651081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D1117"/>
                </a:solidFill>
                <a:latin typeface="Space Grotesk"/>
              </a:rPr>
              <a:t>Machine Learning Core Algorithms (Sessions 10–18)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395662"/>
            <a:ext cx="42421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A7F37"/>
                </a:solidFill>
                <a:latin typeface="Inter"/>
              </a:rPr>
              <a:t>WEEK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652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S10: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Linear &amp; Polynomial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8433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S11: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Logistic Regression &amp; Evaluation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033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S12: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Regularization: Ridge, Lasso &amp; ElasticNet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9875" y="3395662"/>
            <a:ext cx="42421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A7F37"/>
                </a:solidFill>
                <a:latin typeface="Inter"/>
              </a:rPr>
              <a:t>WEEK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9875" y="3652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S13: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Decision Trees &amp; Hyperparameter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9875" y="38433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S14: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Random Forests &amp; Bagging Ensembles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9875" y="4033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S15: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XGBoost, LightGBM &amp; Gradient Boosting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8225" y="3395662"/>
            <a:ext cx="40037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A7F37"/>
                </a:solidFill>
                <a:latin typeface="Inter"/>
              </a:rPr>
              <a:t>WEEK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8225" y="3652837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S16: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Support Vector Machines &amp; Kernels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225" y="3843337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S17: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K-Means &amp; Hierarchical 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225" y="4033837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S18: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Dimensionality Reduction via PCA &amp; t-SNE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050" y="590550"/>
            <a:ext cx="1276350" cy="266700"/>
          </a:xfrm>
          <a:prstGeom prst="roundRect">
            <a:avLst>
              <a:gd name="adj" fmla="val 21428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33737"/>
            <a:ext cx="3555950" cy="1114425"/>
          </a:xfrm>
          <a:prstGeom prst="roundRect">
            <a:avLst>
              <a:gd name="adj" fmla="val 683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7950" y="3233737"/>
            <a:ext cx="3555950" cy="1114425"/>
          </a:xfrm>
          <a:prstGeom prst="roundRect">
            <a:avLst>
              <a:gd name="adj" fmla="val 683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3233737"/>
            <a:ext cx="3556099" cy="1114425"/>
          </a:xfrm>
          <a:prstGeom prst="roundRect">
            <a:avLst>
              <a:gd name="adj" fmla="val 683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59721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250DF"/>
                </a:solidFill>
                <a:latin typeface="Inter"/>
              </a:rPr>
              <a:t>MODULE 3 • WEEKS 7 TO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0350" y="6477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250DF"/>
                </a:solidFill>
                <a:latin typeface="Inter"/>
              </a:rPr>
              <a:t>27 Contact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7700"/>
            <a:ext cx="771346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D1117"/>
                </a:solidFill>
                <a:latin typeface="Space Grotesk"/>
              </a:rPr>
              <a:t>Deep Learning Architectures (Sessions 19–27)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395662"/>
            <a:ext cx="42421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250DF"/>
                </a:solidFill>
                <a:latin typeface="Inter"/>
              </a:rPr>
              <a:t>WEEK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652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S19: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Neural Network Foundations &amp; Perceptrons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8433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S20: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Backpropagation, Loss Functions &amp; SGD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033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S21: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PyTorch Framework &amp; Tensor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9875" y="3395662"/>
            <a:ext cx="42421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250DF"/>
                </a:solidFill>
                <a:latin typeface="Inter"/>
              </a:rPr>
              <a:t>WEEK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9875" y="3652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S22: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Convolutional Neural Networks (CNNs)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9875" y="38433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S23: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Computer Vision &amp; Transfer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9875" y="4033837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S24: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Recurrent Nets, LSTMs &amp; Sequence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8225" y="3395662"/>
            <a:ext cx="40037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250DF"/>
                </a:solidFill>
                <a:latin typeface="Inter"/>
              </a:rPr>
              <a:t>WEEK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8225" y="3652837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S25: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Transformer Architecture &amp; Self-Attention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225" y="3843337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S26: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Language Modeling &amp; Tokenization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225" y="4033837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S27: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Fine-Tuning Neural Nets &amp; Model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57750" y="495300"/>
            <a:ext cx="2476500" cy="285750"/>
          </a:xfrm>
          <a:prstGeom prst="roundRect">
            <a:avLst>
              <a:gd name="adj" fmla="val 50000"/>
            </a:avLst>
          </a:prstGeom>
          <a:solidFill>
            <a:srgbClr val="2B2519"/>
          </a:solidFill>
          <a:ln w="9525">
            <a:solidFill>
              <a:srgbClr val="483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19475"/>
            <a:ext cx="3289250" cy="1685925"/>
          </a:xfrm>
          <a:prstGeom prst="roundRect">
            <a:avLst>
              <a:gd name="adj" fmla="val 677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51300" y="3419475"/>
            <a:ext cx="3289250" cy="1685925"/>
          </a:xfrm>
          <a:prstGeom prst="roundRect">
            <a:avLst>
              <a:gd name="adj" fmla="val 6779"/>
            </a:avLst>
          </a:prstGeom>
          <a:solidFill>
            <a:srgbClr val="161B22"/>
          </a:solidFill>
          <a:ln w="9525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93000" y="3419475"/>
            <a:ext cx="3289250" cy="1685925"/>
          </a:xfrm>
          <a:prstGeom prst="roundRect">
            <a:avLst>
              <a:gd name="adj" fmla="val 677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25550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67251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2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08951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350" y="4167187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050" y="4167187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1537" y="552450"/>
            <a:ext cx="2828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D29922"/>
                </a:solidFill>
                <a:latin typeface="Inter"/>
              </a:rPr>
              <a:t>PIVOTAL CURRICULUM MILESTONE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0" y="838200"/>
            <a:ext cx="129540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550" i="0" u="none">
                <a:solidFill>
                  <a:srgbClr val="FFFFFF"/>
                </a:solidFill>
                <a:latin typeface="Space Grotesk"/>
              </a:rPr>
              <a:t>Post-ML &amp; DL Core: The Pathfinding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1156" y="1323975"/>
            <a:ext cx="892968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8B949E"/>
                </a:solidFill>
                <a:latin typeface="Inter"/>
              </a:rPr>
              <a:t>After completing the ML &amp; DL core (Modules 1–3), students reach a career decision point. Module 4 serves as an active exploration launchpad to test domain branches before selecting a specialized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2675" y="36576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58A6FF"/>
                </a:solidFill>
                <a:latin typeface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193" y="4267200"/>
            <a:ext cx="36920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Core Mastery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099" y="4543425"/>
            <a:ext cx="351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8B949E"/>
                </a:solidFill>
                <a:latin typeface="Inter"/>
              </a:rPr>
              <a:t>Solid mastery of Python, Mathematics, ML Algorithms &amp; PyTorch Deep Learning.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4376" y="36576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D29922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9894" y="4267200"/>
            <a:ext cx="36920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Domain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7800" y="4543425"/>
            <a:ext cx="351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8B949E"/>
                </a:solidFill>
                <a:latin typeface="Inter"/>
              </a:rPr>
              <a:t>Module 4 hands-on sessions &amp; exploratory projects across CV, NLP, GenAI &amp; Agents.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6076" y="36576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3FB950"/>
                </a:solidFill>
                <a:latin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1594" y="4267200"/>
            <a:ext cx="36920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Chosen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9500" y="4543425"/>
            <a:ext cx="3516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8B949E"/>
                </a:solidFill>
                <a:latin typeface="Inter"/>
              </a:rPr>
              <a:t>Clear candidate clarity to pick their long-term specialization for capstone &amp; career.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15575" y="590550"/>
            <a:ext cx="1266825" cy="266700"/>
          </a:xfrm>
          <a:prstGeom prst="roundRect">
            <a:avLst>
              <a:gd name="adj" fmla="val 21428"/>
            </a:avLst>
          </a:prstGeom>
          <a:solidFill>
            <a:srgbClr val="FF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85962"/>
            <a:ext cx="3555950" cy="923925"/>
          </a:xfrm>
          <a:prstGeom prst="roundRect">
            <a:avLst>
              <a:gd name="adj" fmla="val 82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7950" y="1985962"/>
            <a:ext cx="3555950" cy="923925"/>
          </a:xfrm>
          <a:prstGeom prst="roundRect">
            <a:avLst>
              <a:gd name="adj" fmla="val 82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1985962"/>
            <a:ext cx="3556099" cy="923925"/>
          </a:xfrm>
          <a:prstGeom prst="roundRect">
            <a:avLst>
              <a:gd name="adj" fmla="val 82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672012"/>
            <a:ext cx="3555950" cy="923925"/>
          </a:xfrm>
          <a:prstGeom prst="roundRect">
            <a:avLst>
              <a:gd name="adj" fmla="val 82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17950" y="4672012"/>
            <a:ext cx="3555950" cy="923925"/>
          </a:xfrm>
          <a:prstGeom prst="roundRect">
            <a:avLst>
              <a:gd name="adj" fmla="val 82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6300" y="4672012"/>
            <a:ext cx="3556099" cy="923925"/>
          </a:xfrm>
          <a:prstGeom prst="roundRect">
            <a:avLst>
              <a:gd name="adj" fmla="val 82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7029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F222E"/>
                </a:solidFill>
                <a:latin typeface="Inter"/>
              </a:rPr>
              <a:t>MODULE 4 • WEEKS 10 &amp;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9875" y="647700"/>
            <a:ext cx="1133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F222E"/>
                </a:solidFill>
                <a:latin typeface="Inter"/>
              </a:rPr>
              <a:t>18 Contact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47700"/>
            <a:ext cx="91011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D1117"/>
                </a:solidFill>
                <a:latin typeface="Space Grotesk"/>
              </a:rPr>
              <a:t>Applied Exploration &amp; Domain Tracks (Sessions 28–33)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147887"/>
            <a:ext cx="42421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F222E"/>
                </a:solidFill>
                <a:latin typeface="Inter"/>
              </a:rPr>
              <a:t>COMPUTER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2405062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S28: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Object Detection (YOLO/R-CNN) &amp;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595562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F2328"/>
                </a:solidFill>
                <a:latin typeface="Inter"/>
              </a:rPr>
              <a:t>Exploratory OpenCV &amp; Vision Model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9875" y="2147887"/>
            <a:ext cx="42421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F222E"/>
                </a:solidFill>
                <a:latin typeface="Inter"/>
              </a:rPr>
              <a:t>NLP &amp; TEXT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9875" y="2405062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S29: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Sequence Classification &amp; Hugging 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9875" y="2595562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F2328"/>
                </a:solidFill>
                <a:latin typeface="Inter"/>
              </a:rPr>
              <a:t>Exploratory Text Analysis &amp; Sentiment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8225" y="2147887"/>
            <a:ext cx="40037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F222E"/>
                </a:solidFill>
                <a:latin typeface="Inter"/>
              </a:rPr>
              <a:t>GENERATIVE AI &amp; LLMS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225" y="2405062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S30: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LLM APIs, Fine-Tuning &amp; Quantization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225" y="2595562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F2328"/>
                </a:solidFill>
                <a:latin typeface="Inter"/>
              </a:rPr>
              <a:t>Exploratory RAG System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4833937"/>
            <a:ext cx="42421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F222E"/>
                </a:solidFill>
                <a:latin typeface="Inter"/>
              </a:rPr>
              <a:t>AUTONOMOUS 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5091112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S31: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Agent Workflows, LangChain &amp; CrewAI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5281612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F2328"/>
                </a:solidFill>
                <a:latin typeface="Inter"/>
              </a:rPr>
              <a:t>Exploratory Multi-Agent Tool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9875" y="4833937"/>
            <a:ext cx="42421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F222E"/>
                </a:solidFill>
                <a:latin typeface="Inter"/>
              </a:rPr>
              <a:t>PROMPT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9875" y="5091112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S32: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Systematic Prompting, Few-Shot &amp; CoT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9875" y="5281612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F2328"/>
                </a:solidFill>
                <a:latin typeface="Inter"/>
              </a:rPr>
              <a:t>Automated Prompt Evaluation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8225" y="4833937"/>
            <a:ext cx="40037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F222E"/>
                </a:solidFill>
                <a:latin typeface="Inter"/>
              </a:rPr>
              <a:t>PATH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8225" y="5091112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S33:</a:t>
            </a:r>
            <a:r>
              <a:rPr b="0" sz="975" i="0" u="none">
                <a:solidFill>
                  <a:srgbClr val="1F2328"/>
                </a:solidFill>
                <a:latin typeface="Inter"/>
              </a:rPr>
              <a:t> Domain Orientation &amp; Path Mentoring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8225" y="5281612"/>
            <a:ext cx="40037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F2328"/>
                </a:solidFill>
                <a:latin typeface="Inter"/>
              </a:rPr>
              <a:t>Finalizing Specialization Track Selection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53675" y="581025"/>
            <a:ext cx="1228725" cy="285750"/>
          </a:xfrm>
          <a:prstGeom prst="roundRect">
            <a:avLst>
              <a:gd name="adj" fmla="val 20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38475"/>
            <a:ext cx="3530500" cy="1504950"/>
          </a:xfrm>
          <a:prstGeom prst="roundRect">
            <a:avLst>
              <a:gd name="adj" fmla="val 7594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600" y="3119437"/>
            <a:ext cx="3530649" cy="1343025"/>
          </a:xfrm>
          <a:prstGeom prst="roundRect">
            <a:avLst>
              <a:gd name="adj" fmla="val 851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750" y="3119437"/>
            <a:ext cx="3530500" cy="1343025"/>
          </a:xfrm>
          <a:prstGeom prst="roundRect">
            <a:avLst>
              <a:gd name="adj" fmla="val 851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62769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CAPSTONE • WEEK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7975" y="638175"/>
            <a:ext cx="10953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F2328"/>
                </a:solidFill>
                <a:latin typeface="Inter"/>
              </a:rPr>
              <a:t>9 Contact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67075"/>
            <a:ext cx="31685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969DA"/>
                </a:solidFill>
                <a:latin typeface="Inter"/>
              </a:rPr>
              <a:t>SESSION 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9200" y="3348037"/>
            <a:ext cx="3168699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969DA"/>
                </a:solidFill>
                <a:latin typeface="Inter"/>
              </a:rPr>
              <a:t>SESSION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350" y="3348037"/>
            <a:ext cx="31685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969DA"/>
                </a:solidFill>
                <a:latin typeface="Inter"/>
              </a:rPr>
              <a:t>SESSION 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47700"/>
            <a:ext cx="811351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D1117"/>
                </a:solidFill>
                <a:latin typeface="Space Grotesk"/>
              </a:rPr>
              <a:t>Path-Specific Capstone Sprint (Sessions 34–36)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43300"/>
            <a:ext cx="40087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328"/>
                </a:solidFill>
                <a:latin typeface="Inter"/>
              </a:rPr>
              <a:t>Domain Project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19525"/>
            <a:ext cx="3149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7606A"/>
                </a:solidFill>
                <a:latin typeface="Inter"/>
              </a:rPr>
              <a:t>Students execute their specialized capstone project in their chosen path with live instructor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725" y="3624262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328"/>
                </a:solidFill>
                <a:latin typeface="Inter"/>
              </a:rPr>
              <a:t>Code Review &amp;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725" y="3900487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7606A"/>
                </a:solidFill>
                <a:latin typeface="Inter"/>
              </a:rPr>
              <a:t>Optimizing pipelines, dockerizing services, and preparing production-grade GitHub portfolios.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9875" y="3624262"/>
            <a:ext cx="3902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328"/>
                </a:solidFill>
                <a:latin typeface="Inter"/>
              </a:rPr>
              <a:t>Live Project Defense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9875" y="3900487"/>
            <a:ext cx="314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7606A"/>
                </a:solidFill>
                <a:latin typeface="Inter"/>
              </a:rPr>
              <a:t>Final presentations demonstrating end-to-end working AI systems to technical mentors.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1825"/>
            <a:ext cx="2600325" cy="1504950"/>
          </a:xfrm>
          <a:prstGeom prst="roundRect">
            <a:avLst>
              <a:gd name="adj" fmla="val 759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90862"/>
            <a:ext cx="2600325" cy="1666875"/>
          </a:xfrm>
          <a:prstGeom prst="roundRect">
            <a:avLst>
              <a:gd name="adj" fmla="val 6857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71825"/>
            <a:ext cx="2600325" cy="1504950"/>
          </a:xfrm>
          <a:prstGeom prst="roundRect">
            <a:avLst>
              <a:gd name="adj" fmla="val 759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71825"/>
            <a:ext cx="2600325" cy="1504950"/>
          </a:xfrm>
          <a:prstGeom prst="roundRect">
            <a:avLst>
              <a:gd name="adj" fmla="val 759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Space Grotesk"/>
              </a:rPr>
              <a:t>Anatomy of a 3-Hour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90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8B949E"/>
                </a:solidFill>
                <a:latin typeface="Inter"/>
              </a:rPr>
              <a:t>Every individual session is structured to maximize retention through active code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400425"/>
            <a:ext cx="2238375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8A6FF"/>
                </a:solidFill>
                <a:latin typeface="Inter"/>
              </a:rPr>
              <a:t>BLOCK 1 (45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9025" y="3319462"/>
            <a:ext cx="2238375" cy="1209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FB950"/>
                </a:solidFill>
                <a:latin typeface="Inter"/>
              </a:rPr>
              <a:t>BLOCK 2 (45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400425"/>
            <a:ext cx="2238375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29922"/>
                </a:solidFill>
                <a:latin typeface="Inter"/>
              </a:rPr>
              <a:t>BLOCK 3 (75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0675" y="3400425"/>
            <a:ext cx="2238375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371F7"/>
                </a:solidFill>
                <a:latin typeface="Inter"/>
              </a:rPr>
              <a:t>BLOCK 4 (15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76650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Theory &amp;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952875"/>
            <a:ext cx="22193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B949E"/>
                </a:solidFill>
                <a:latin typeface="Inter"/>
              </a:rPr>
              <a:t>Interactive lecture covering mathematics, algorithms, and system design trade-offs.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59568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Instructor Live 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871912"/>
            <a:ext cx="221932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B949E"/>
                </a:solidFill>
                <a:latin typeface="Inter"/>
              </a:rPr>
              <a:t>Step-by-step code implementation building neural models and data pipelines from scratch.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676650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Guided Hands-on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952875"/>
            <a:ext cx="22193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B949E"/>
                </a:solidFill>
                <a:latin typeface="Inter"/>
              </a:rPr>
              <a:t>Students tackle practical coding tasks and domain exploration projects with real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676650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Q&amp;A &amp; Code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952875"/>
            <a:ext cx="22193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B949E"/>
                </a:solidFill>
                <a:latin typeface="Inter"/>
              </a:rPr>
              <a:t>Debugging common issues, reviewing optimization strategies, and previewing upcoming topics.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8000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48012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48000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48012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86125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386137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286125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386137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D1117"/>
                </a:solidFill>
                <a:latin typeface="Space Grotesk"/>
              </a:rPr>
              <a:t>Target Specialized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90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7606A"/>
                </a:solidFill>
                <a:latin typeface="Inter"/>
              </a:rPr>
              <a:t>Graduates emerge ready for specialized roles based on their Module 4 path choice.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29025"/>
            <a:ext cx="233029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328"/>
                </a:solidFill>
                <a:latin typeface="Inter"/>
              </a:rPr>
              <a:t>Computer Vision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105275"/>
            <a:ext cx="2219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57606A"/>
                </a:solidFill>
                <a:latin typeface="Inter"/>
              </a:rPr>
              <a:t>Specialized in video processing, object detection, spatial AI, and edge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72903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328"/>
                </a:solidFill>
                <a:latin typeface="Inter"/>
              </a:rPr>
              <a:t>NLP &amp; LLM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4005262"/>
            <a:ext cx="2219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57606A"/>
                </a:solidFill>
                <a:latin typeface="Inter"/>
              </a:rPr>
              <a:t>Specialized in text pipelines, retrieval systems (RAG), and model fine-tuning.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629025"/>
            <a:ext cx="233029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328"/>
                </a:solidFill>
                <a:latin typeface="Inter"/>
              </a:rPr>
              <a:t>AI Agent Systems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4105275"/>
            <a:ext cx="2219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57606A"/>
                </a:solidFill>
                <a:latin typeface="Inter"/>
              </a:rPr>
              <a:t>Specialized in autonomous multi-agent tool execution and workflow orchestrations.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72903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328"/>
                </a:solidFill>
                <a:latin typeface="Inter"/>
              </a:rPr>
              <a:t>Generative AI 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4005262"/>
            <a:ext cx="2219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57606A"/>
                </a:solidFill>
                <a:latin typeface="Inter"/>
              </a:rPr>
              <a:t>Specialized in prompt engineering, multi-modal applications, and API architecture.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0387"/>
            <a:ext cx="3505200" cy="1647825"/>
          </a:xfrm>
          <a:prstGeom prst="roundRect">
            <a:avLst>
              <a:gd name="adj" fmla="val 6936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00387"/>
            <a:ext cx="3505200" cy="1647825"/>
          </a:xfrm>
          <a:prstGeom prst="roundRect">
            <a:avLst>
              <a:gd name="adj" fmla="val 6936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00387"/>
            <a:ext cx="3505200" cy="1647825"/>
          </a:xfrm>
          <a:prstGeom prst="roundRect">
            <a:avLst>
              <a:gd name="adj" fmla="val 6936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D1117"/>
                </a:solidFill>
                <a:latin typeface="Space Grotesk"/>
              </a:rPr>
              <a:t>Student Assessment &amp; Grading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7606A"/>
                </a:solidFill>
                <a:latin typeface="Inter"/>
              </a:rPr>
              <a:t>Rigorous evaluation criteria ensuring candidates demonstrate practical production capabilities.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376612"/>
            <a:ext cx="3690937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969DA"/>
                </a:solidFill>
                <a:latin typeface="Inter"/>
              </a:rPr>
              <a:t>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71912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328"/>
                </a:solidFill>
                <a:latin typeface="Inter"/>
              </a:rPr>
              <a:t>Weekly Coding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148137"/>
            <a:ext cx="3048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7606A"/>
                </a:solidFill>
                <a:latin typeface="Inter"/>
              </a:rPr>
              <a:t>Hands-on problem sets evaluated on code quality, vectorization, and model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376612"/>
            <a:ext cx="3690937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A7F37"/>
                </a:solidFill>
                <a:latin typeface="Inter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871912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328"/>
                </a:solidFill>
                <a:latin typeface="Inter"/>
              </a:rPr>
              <a:t>Exploration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4148137"/>
            <a:ext cx="3048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7606A"/>
                </a:solidFill>
                <a:latin typeface="Inter"/>
              </a:rPr>
              <a:t>Module 4 domain testing projects evaluating practical grasp across specialized AI fields.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376612"/>
            <a:ext cx="3690937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8250DF"/>
                </a:solidFill>
                <a:latin typeface="Inter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871912"/>
            <a:ext cx="383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2328"/>
                </a:solidFill>
                <a:latin typeface="Inter"/>
              </a:rPr>
              <a:t>Capstone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148137"/>
            <a:ext cx="3048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7606A"/>
                </a:solidFill>
                <a:latin typeface="Inter"/>
              </a:rPr>
              <a:t>Final end-to-end AI project presentation, architectural review, and live code defense.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43487" y="2024062"/>
            <a:ext cx="2105025" cy="304800"/>
          </a:xfrm>
          <a:prstGeom prst="roundRect">
            <a:avLst>
              <a:gd name="adj" fmla="val 50000"/>
            </a:avLst>
          </a:prstGeom>
          <a:solidFill>
            <a:srgbClr val="13233A"/>
          </a:solidFill>
          <a:ln w="9525">
            <a:solidFill>
              <a:srgbClr val="1A3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71825" y="4424213"/>
            <a:ext cx="2781300" cy="409575"/>
          </a:xfrm>
          <a:prstGeom prst="roundRect">
            <a:avLst>
              <a:gd name="adj" fmla="val 1860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05525" y="4424213"/>
            <a:ext cx="2914650" cy="409575"/>
          </a:xfrm>
          <a:prstGeom prst="roundRect">
            <a:avLst>
              <a:gd name="adj" fmla="val 1860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0" y="4567088"/>
            <a:ext cx="11430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4567088"/>
            <a:ext cx="114300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13709" y="2081212"/>
            <a:ext cx="2364581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58A6FF"/>
                </a:solidFill>
                <a:latin typeface="Space Grotesk"/>
              </a:rPr>
              <a:t>READY FOR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5631" y="2519362"/>
            <a:ext cx="5900737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AI Engineering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58442"/>
            <a:ext cx="76200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8B949E"/>
                </a:solidFill>
                <a:latin typeface="Inter"/>
              </a:rPr>
              <a:t>12 Weeks • 36 Sessions • 108 Contact Hours</a:t>
            </a:r>
            <a:r>
              <a:t>
</a:t>
            </a:r>
            <a:r>
              <a:rPr b="0" sz="1350" i="0" u="none">
                <a:solidFill>
                  <a:srgbClr val="8B949E"/>
                </a:solidFill>
                <a:latin typeface="Inter"/>
              </a:rPr>
              <a:t> A clear path from machine learning core mastery to specialized AI engineering.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2762" y="4538513"/>
            <a:ext cx="30194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0F6FC"/>
                </a:solidFill>
                <a:latin typeface="Inter"/>
              </a:rPr>
              <a:t>Complete 36-Session 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9793" y="4538513"/>
            <a:ext cx="31861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0F6FC"/>
                </a:solidFill>
                <a:latin typeface="Inter"/>
              </a:rPr>
              <a:t>Pathfinding Gateway &amp; Mentoring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