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</ns0:sldIdLst>
  <ns0:sldSz cx="12192000" cy="6858000" type="screen4x3"/>
  <ns0:notesSz cx="6858000" cy="9144000"/>
  <ns0:embeddedFontLst>
    <ns0:embeddedFont>
      <ns0:font typeface="JetBrains Mono"/>
      <ns0:bold ns1:id="rIdFont19"/>
    </ns0:embeddedFont>
    <ns0:embeddedFont>
      <ns0:font typeface="Plus Jakarta Sans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Font19" Type="http://schemas.openxmlformats.org/officeDocument/2006/relationships/font" Target="fonts/8facdcc9-f018-45a5-ac7e-96587898eb79.fntdata" /><ns0:Relationship Id="rIdFont20" Type="http://schemas.openxmlformats.org/officeDocument/2006/relationships/font" Target="fonts/7be59d3d-1070-4a04-aacc-8bc94e907c16.fntdata" /><ns0:Relationship Id="rIdFont21" Type="http://schemas.openxmlformats.org/officeDocument/2006/relationships/font" Target="fonts/f0a2e6be-f2ab-4472-a13c-48fb3ab3726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77400" y="419100"/>
            <a:ext cx="1981200" cy="400050"/>
          </a:xfrm>
          <a:prstGeom prst="roundRect">
            <a:avLst>
              <a:gd name="adj" fmla="val 28571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3400" y="5200650"/>
            <a:ext cx="2667000" cy="1228725"/>
          </a:xfrm>
          <a:prstGeom prst="roundRect">
            <a:avLst>
              <a:gd name="adj" fmla="val 10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52800" y="5200650"/>
            <a:ext cx="2667000" cy="1228725"/>
          </a:xfrm>
          <a:prstGeom prst="roundRect">
            <a:avLst>
              <a:gd name="adj" fmla="val 10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72200" y="5200650"/>
            <a:ext cx="2667000" cy="1228725"/>
          </a:xfrm>
          <a:prstGeom prst="roundRect">
            <a:avLst>
              <a:gd name="adj" fmla="val 10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91600" y="5200650"/>
            <a:ext cx="2667000" cy="1228725"/>
          </a:xfrm>
          <a:prstGeom prst="roundRect">
            <a:avLst>
              <a:gd name="adj" fmla="val 10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3400" y="641985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3400" y="5200650"/>
            <a:ext cx="2667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3400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90875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2800" y="641985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2800" y="5200650"/>
            <a:ext cx="2667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52800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10275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641985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5200650"/>
            <a:ext cx="266700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29675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1600" y="6419850"/>
            <a:ext cx="26670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91600" y="5200650"/>
            <a:ext cx="26670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91600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649075" y="5200650"/>
            <a:ext cx="9525" cy="12287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900" y="561975"/>
            <a:ext cx="171450" cy="1333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772650" y="533400"/>
            <a:ext cx="16954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b="1" sz="1050" i="0" u="none">
                <a:solidFill>
                  <a:srgbClr val="FFFFFF"/>
                </a:solidFill>
                <a:latin typeface="Plus Jakarta Sans"/>
              </a:rPr>
              <a:t>Highly Applied 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419100"/>
            <a:ext cx="8929687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CURRICULUM PROPOSAL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19125"/>
            <a:ext cx="9376171" cy="5037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0F172A"/>
                </a:solidFill>
                <a:latin typeface="Plus Jakarta Sans"/>
              </a:rPr>
              <a:t>Data Science &amp; AI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1237208"/>
            <a:ext cx="7239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An intensive, project-driven 135-hour roadmap built around real-world industrial implementation.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5448300"/>
            <a:ext cx="278606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2475" y="5876925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LIVE SESSIONS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475" y="6067425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Hands-on interactive 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1875" y="5448300"/>
            <a:ext cx="278606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135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71875" y="5876925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TOTAL 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1875" y="6067425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3 Sessions/wk (3 hrs each)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91275" y="5448300"/>
            <a:ext cx="278606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16A34A"/>
                </a:solidFill>
                <a:latin typeface="Plus Jakarta Sans"/>
              </a:rPr>
              <a:t>12+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91275" y="5876925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PHASE PROJECTS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91275" y="6067425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Real portfolio deliverables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0675" y="5448300"/>
            <a:ext cx="2786062" cy="4095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F172A"/>
                </a:solidFill>
                <a:latin typeface="Plus Jakarta Sans"/>
              </a:rPr>
              <a:t>60%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0675" y="5876925"/>
            <a:ext cx="2786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PRACTICAL CODE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0675" y="6067425"/>
            <a:ext cx="2786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Live coding in every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1735335"/>
            <a:ext cx="5467350" cy="1343025"/>
          </a:xfrm>
          <a:prstGeom prst="roundRect">
            <a:avLst>
              <a:gd name="adj" fmla="val 9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1735335"/>
            <a:ext cx="5467350" cy="1343025"/>
          </a:xfrm>
          <a:prstGeom prst="roundRect">
            <a:avLst>
              <a:gd name="adj" fmla="val 9929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33400" y="4480470"/>
            <a:ext cx="5467350" cy="1343025"/>
          </a:xfrm>
          <a:prstGeom prst="roundRect">
            <a:avLst>
              <a:gd name="adj" fmla="val 9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91250" y="4480470"/>
            <a:ext cx="5467350" cy="1343025"/>
          </a:xfrm>
          <a:prstGeom prst="roundRect">
            <a:avLst>
              <a:gd name="adj" fmla="val 9929"/>
            </a:avLst>
          </a:prstGeom>
          <a:solidFill>
            <a:srgbClr val="FEFCE8"/>
          </a:solidFill>
          <a:ln w="9525">
            <a:solidFill>
              <a:srgbClr val="FEF0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1954410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95441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4699545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0325" y="4699545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962" y="2068710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0337" y="2068710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775" y="4813845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4625" y="4813845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19100"/>
            <a:ext cx="11658600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PRACTICAL-FIRST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Built Around Continuous Live Coding &amp; Real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48781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Students don't passively watch slides. Every session includes a 60-minute live coding sprint where learners write, test, and debug code alongside instructor guidance.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2487810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166534"/>
                </a:solidFill>
                <a:latin typeface="Plus Jakarta Sans"/>
              </a:rPr>
              <a:t>Learners solidify concepts by building modular projects—from SQL analytical pipelines to fine-tuned LLM agents and containerized PyTorch microservices.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475" y="5232945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4155"/>
                </a:solidFill>
                <a:latin typeface="Plus Jakarta Sans"/>
              </a:rPr>
              <a:t>All labs utilize noisy, messy industrial data sourced from fintech, e-commerce, healthcare, and enterprise logs to simulate true workplace challenges.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5232945"/>
            <a:ext cx="5124450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713F12"/>
                </a:solidFill>
                <a:latin typeface="Plus Jakarta Sans"/>
              </a:rPr>
              <a:t>Students deploy an end-to-end AI product using Docker, FastAPI, and PowerBI, presented in front of an expert industry evaluation panel.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5875" y="1992510"/>
            <a:ext cx="303787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60% Live Code &amp; Lab Sprints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5875" y="2192535"/>
            <a:ext cx="28932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Every single session contains active coding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3725" y="1992510"/>
            <a:ext cx="2650331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4532D"/>
                </a:solidFill>
                <a:latin typeface="Plus Jakarta Sans"/>
              </a:rPr>
              <a:t>12 Phase Milestone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3725" y="2192535"/>
            <a:ext cx="252412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166534"/>
                </a:solidFill>
                <a:latin typeface="Plus Jakarta Sans"/>
              </a:rPr>
              <a:t>One full project per curriculum phase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5875" y="4737645"/>
            <a:ext cx="283785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Industry Benchmark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5875" y="4937670"/>
            <a:ext cx="2702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Zero toy datasets used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3725" y="4737645"/>
            <a:ext cx="306288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713F12"/>
                </a:solidFill>
                <a:latin typeface="Plus Jakarta Sans"/>
              </a:rPr>
              <a:t>Deployed Production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3725" y="4937670"/>
            <a:ext cx="2917031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854D0E"/>
                </a:solidFill>
                <a:latin typeface="Plus Jakarta Sans"/>
              </a:rPr>
              <a:t>Live API + Dashboard + Cloud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3619500"/>
          </a:xfrm>
          <a:prstGeom prst="roundRect">
            <a:avLst>
              <a:gd name="adj" fmla="val 315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44175" y="419100"/>
            <a:ext cx="1114425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19439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19439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19439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19439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3630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3630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3630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3630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8869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8869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8869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8869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33060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5532" y="33060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2069" y="33060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2388" y="33060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2925" y="38299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5532" y="38299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2069" y="38299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72388" y="38299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925" y="435381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5532" y="435381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2069" y="435381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72388" y="435381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5325" y="16249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24788" y="1643955"/>
            <a:ext cx="11049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5325" y="20440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24788" y="2063055"/>
            <a:ext cx="14573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5325" y="25154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24788" y="2534542"/>
            <a:ext cx="135255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5325" y="29869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24788" y="3006030"/>
            <a:ext cx="12477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5325" y="3458467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24788" y="3477517"/>
            <a:ext cx="12668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5325" y="398234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24788" y="4001392"/>
            <a:ext cx="10382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5325" y="445383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24788" y="4472880"/>
            <a:ext cx="12668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110680"/>
            <a:ext cx="9525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525142"/>
            <a:ext cx="95250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4520505"/>
            <a:ext cx="95250" cy="1047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513" y="4049017"/>
            <a:ext cx="95250" cy="1047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582167"/>
            <a:ext cx="95250" cy="1047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110680"/>
            <a:ext cx="95250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582167"/>
            <a:ext cx="95250" cy="1047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525142"/>
            <a:ext cx="95250" cy="1047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513" y="4049017"/>
            <a:ext cx="95250" cy="10477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4520505"/>
            <a:ext cx="95250" cy="104775"/>
          </a:xfrm>
          <a:prstGeom prst="rect">
            <a:avLst/>
          </a:prstGeom>
        </p:spPr>
      </p:pic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42925" y="1177230"/>
          <a:ext cx="11106149" cy="36004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50056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5005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Python &amp; Environment Setup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Configuring Anaconda, VS Code, primitive types &amp; structures.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005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Control Flow &amp; Functional Code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Building custom data parsers with list comprehensions &amp; lambdas.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5005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OOP &amp; Professional Git Workflow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Class inheritance, GitHub branching, pull requests &amp; conflict resolution.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005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Linear Algebra: Vectors &amp; Matrices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Matrix transformations, dot products, vector spaces in Python.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5005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Multivariate Calculus &amp; Optimization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Computing Jacobians, loss functions &amp; gradient descent from scratch.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0056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Probability &amp; Random Variables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Bayes theorem simulations &amp; continuous/discrete probability modeling.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50058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Inferential Statistics &amp; A/B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Hypothesis testing, Z-scores, t-tests, ANOVA on real user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10677525" y="476250"/>
            <a:ext cx="9429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Phases 01 &amp; 02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400" y="419100"/>
            <a:ext cx="5786437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01 – 07 (21 HOURS)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400" y="619125"/>
            <a:ext cx="6075759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1 &amp; 2: Python, Git &amp; Math for AI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525" y="16630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3863" y="1672530"/>
            <a:ext cx="9048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Python CLI Tool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1525" y="20821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3863" y="2091630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Automated Log Parser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1525" y="25535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3863" y="2563117"/>
            <a:ext cx="11525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Open Source PR Lab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1525" y="30250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3863" y="3034605"/>
            <a:ext cx="10477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Vector Engine Lab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1525" y="3496567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3863" y="3506092"/>
            <a:ext cx="10668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Custom Optimizer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1525" y="402044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06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43863" y="4029967"/>
            <a:ext cx="8382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Risk Simulator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1525" y="449193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43863" y="4501455"/>
            <a:ext cx="10668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A/B Test Evaluator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0" y="419100"/>
            <a:ext cx="1143000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20487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20487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20487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20487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4678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4678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4678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4678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8869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8869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8869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8869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33060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5532" y="33060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2069" y="33060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2388" y="33060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2925" y="37251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5532" y="37251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2069" y="37251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72388" y="37251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925" y="41442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5532" y="41442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2069" y="41442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72388" y="41442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5325" y="16772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24788" y="1696342"/>
            <a:ext cx="16287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5325" y="21487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24788" y="2167830"/>
            <a:ext cx="13430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5325" y="25678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24788" y="2586930"/>
            <a:ext cx="16668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5325" y="29869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24788" y="3006030"/>
            <a:ext cx="14573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5325" y="34060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24788" y="3425130"/>
            <a:ext cx="14192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5325" y="38251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24788" y="3844230"/>
            <a:ext cx="16859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5325" y="4296667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24788" y="4315717"/>
            <a:ext cx="15906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891855"/>
            <a:ext cx="9525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1743967"/>
            <a:ext cx="95250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634555"/>
            <a:ext cx="95250" cy="1047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4363342"/>
            <a:ext cx="95250" cy="1047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215455"/>
            <a:ext cx="95250" cy="1047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3472755"/>
            <a:ext cx="95250" cy="1047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1743967"/>
            <a:ext cx="95250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215455"/>
            <a:ext cx="95250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634555"/>
            <a:ext cx="95250" cy="1047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3472755"/>
            <a:ext cx="95250" cy="1047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891855"/>
            <a:ext cx="95250" cy="10477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4363342"/>
            <a:ext cx="95250" cy="104775"/>
          </a:xfrm>
          <a:prstGeom prst="rect">
            <a:avLst/>
          </a:prstGeom>
        </p:spPr>
      </p:pic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42925" y="1177230"/>
          <a:ext cx="11106149" cy="34956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NumPy High-Performance Arrays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Vectorized operations, multi-dimensional array manipulation &amp; indexing.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Pandas Cleaning &amp; Wrangling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Cleaning missing data, string sanitization, and type transformations.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Advanced Pandas Aggregation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Groupby, pivot tables, multi-index operations, dataset joins.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Time-Series Data Wrangling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Resampling, rolling windows, date-time indexing, lag features.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Matplotlib Publication Visuals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Custom publication-grade line plots, scatter charts, and subplots.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Seaborn Statistical Graphics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Heatmaps, pair plots, box plots, statistical distribution checks.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3696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Interactive Plotly Dashboards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Building dynamic maps, hoverable charts &amp; interactive web visual tools.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10648950" y="476250"/>
            <a:ext cx="9715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Phases 03 &amp; 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400" y="419100"/>
            <a:ext cx="7179468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08 – 14 (21 HOURS)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400" y="619125"/>
            <a:ext cx="7538442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3 &amp; 4: Data Manipulation &amp; Visualization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525" y="17153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3863" y="1724917"/>
            <a:ext cx="14287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Matrix Computing Engine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1525" y="21868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09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3863" y="2196405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Messy Data Pipeline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1525" y="26059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3863" y="2615505"/>
            <a:ext cx="14668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E-Commerce ETL Pipeline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1525" y="30250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3863" y="3034605"/>
            <a:ext cx="12573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Financial Series Parser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1525" y="34441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3863" y="3453705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Custom Chart Theme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1525" y="38632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43863" y="3872805"/>
            <a:ext cx="14859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Correlation Heatmap Suite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1525" y="4334767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43863" y="4344292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Dynamic Web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3514725"/>
          </a:xfrm>
          <a:prstGeom prst="roundRect">
            <a:avLst>
              <a:gd name="adj" fmla="val 325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25125" y="419100"/>
            <a:ext cx="1133475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20487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20487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20487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20487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4678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4678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4678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4678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9917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9917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9917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9917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34108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5532" y="34108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2069" y="34108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2388" y="34108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2925" y="38299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5532" y="38299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2069" y="38299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72388" y="38299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2925" y="42490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75532" y="42490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2069" y="42490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72388" y="42490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5325" y="16772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24788" y="1696342"/>
            <a:ext cx="15525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5325" y="21487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24788" y="2167830"/>
            <a:ext cx="14192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5325" y="2620267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24788" y="2639317"/>
            <a:ext cx="14001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5325" y="30917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24788" y="3110805"/>
            <a:ext cx="15144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95325" y="35108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24788" y="3529905"/>
            <a:ext cx="12573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95325" y="39299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024788" y="3949005"/>
            <a:ext cx="13620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95325" y="43490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24788" y="4368105"/>
            <a:ext cx="127635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686942"/>
            <a:ext cx="95250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158430"/>
            <a:ext cx="9525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3577530"/>
            <a:ext cx="95250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996630"/>
            <a:ext cx="95250" cy="1047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215455"/>
            <a:ext cx="95250" cy="1047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1743967"/>
            <a:ext cx="95250" cy="1047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4415730"/>
            <a:ext cx="95250" cy="1047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1743967"/>
            <a:ext cx="95250" cy="104775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215455"/>
            <a:ext cx="95250" cy="104775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686942"/>
            <a:ext cx="95250" cy="104775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158430"/>
            <a:ext cx="95250" cy="104775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3577530"/>
            <a:ext cx="95250" cy="104775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996630"/>
            <a:ext cx="95250" cy="104775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4415730"/>
            <a:ext cx="95250" cy="104775"/>
          </a:xfrm>
          <a:prstGeom prst="rect">
            <a:avLst/>
          </a:prstGeom>
        </p:spPr>
      </p:pic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542925" y="1177230"/>
          <a:ext cx="11106149" cy="34956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36959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SQL Foundations &amp; Filtering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Writing optimized SELECT queries, filtering, aggregation &amp; GROUP BY.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Complex Joins &amp; Subqueries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INNER/LEFT/RIGHT joins, CTEs, and nested subquery optimization.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Window Functions &amp; Partitions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ROW_NUMBER, RANK, LEAD, LAG, and running totals over partitions.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Python-SQL Data Pipelines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Connecting PostgreSQL to Pandas DataFrames via SQLAlchemy.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Systematic Univariate EDA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Outlier detection, distribution skewness correction, data scaling.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6959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Automated Profiling Tools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Accelerating EDA using YData Profiling &amp; Sweetviz modules.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3696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Comprehensive EDA Case Study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End-to-end investigation &amp; feature discovery on raw industry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TextBox 62"/>
          <p:cNvSpPr txBox="1"/>
          <p:nvPr/>
        </p:nvSpPr>
        <p:spPr>
          <a:xfrm>
            <a:off x="10658475" y="476250"/>
            <a:ext cx="9620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Phases 05 &amp; 06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3400" y="419100"/>
            <a:ext cx="8524875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15 – 21 (21 HOURS)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3400" y="619125"/>
            <a:ext cx="8951118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5 &amp; 6: SQL Analytics &amp; Exploratory Data Analysis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525" y="17153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3863" y="1724917"/>
            <a:ext cx="13525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Retail Database Queries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1525" y="21868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3863" y="2196405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Multi-Table Analytics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1525" y="2658367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43863" y="2667892"/>
            <a:ext cx="12001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User Cohort Analyzer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1525" y="31298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43863" y="3139380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SQL-to-Pandas Bridge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1525" y="35489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19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43863" y="3558480"/>
            <a:ext cx="10572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Data Quality Audit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1525" y="39680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43863" y="3977580"/>
            <a:ext cx="11620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Auto EDA Generator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71525" y="43871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43863" y="4396680"/>
            <a:ext cx="10763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Churn EDA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2990850"/>
          </a:xfrm>
          <a:prstGeom prst="roundRect">
            <a:avLst>
              <a:gd name="adj" fmla="val 382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68025" y="419100"/>
            <a:ext cx="790575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19439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19439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19439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19439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3630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3630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3630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3630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8869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8869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8869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8869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33060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5532" y="33060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2069" y="33060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2388" y="33060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2925" y="37251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5532" y="37251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52069" y="37251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872388" y="37251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5325" y="16249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24788" y="1643955"/>
            <a:ext cx="14097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5325" y="20440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24788" y="2063055"/>
            <a:ext cx="14192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5325" y="25154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24788" y="2534542"/>
            <a:ext cx="15525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5325" y="29869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024788" y="3006030"/>
            <a:ext cx="17145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5325" y="34060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024788" y="3425130"/>
            <a:ext cx="15906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5325" y="38251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24788" y="3844230"/>
            <a:ext cx="16002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891855"/>
            <a:ext cx="95250" cy="1047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110680"/>
            <a:ext cx="95250" cy="1047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582167"/>
            <a:ext cx="95250" cy="1047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3472755"/>
            <a:ext cx="95250" cy="1047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110680"/>
            <a:ext cx="95250" cy="1047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582167"/>
            <a:ext cx="95250" cy="1047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3472755"/>
            <a:ext cx="95250" cy="1047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891855"/>
            <a:ext cx="95250" cy="104775"/>
          </a:xfrm>
          <a:prstGeom prst="rect">
            <a:avLst/>
          </a:prstGeom>
        </p:spPr>
      </p:pic>
      <p:graphicFrame>
        <p:nvGraphicFramePr>
          <p:cNvPr id="54" name="Table 53"/>
          <p:cNvGraphicFramePr>
            <a:graphicFrameLocks noGrp="1"/>
          </p:cNvGraphicFramePr>
          <p:nvPr/>
        </p:nvGraphicFramePr>
        <p:xfrm>
          <a:off x="542925" y="1177230"/>
          <a:ext cx="11106149" cy="29718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Linear &amp; Polynomial Regression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OLS model fitting, residual analysis, MSE/R2 valuation.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Regularization (L1 Lasso / L2 Ridge)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Preventing overfitting, feature selection via ElasticNet shrinkage.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Logistic Regression &amp; Classification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Sigmoid decision boundaries, ROC-AUC curves, confusion matrices.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kNN &amp; Naive Bayes Classifiers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Distance metrics, probabilistic classification on text/features.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Support Vector Machines (SVM)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Hyperplane margin maximization &amp; non-linear kernel tricks.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Unsupervised Clustering Methods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K-Means, Hierarchical clustering, and DBSCAN density grouping.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55" name="TextBox 54"/>
          <p:cNvSpPr txBox="1"/>
          <p:nvPr/>
        </p:nvSpPr>
        <p:spPr>
          <a:xfrm>
            <a:off x="11001375" y="4762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 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3400" y="419100"/>
            <a:ext cx="6756796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22 – 27 (18 HOURS)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3400" y="619125"/>
            <a:ext cx="7094636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7: Core Machine Learning Algorithms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1525" y="16630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3863" y="1672530"/>
            <a:ext cx="12096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Real Estate Valuation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1525" y="20821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43863" y="2091630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Regularized Predictor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1525" y="25535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243863" y="2563117"/>
            <a:ext cx="13525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Credit Default Classifier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71525" y="30250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3863" y="3034605"/>
            <a:ext cx="15144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Spam Classification Engine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525" y="34441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3863" y="3453705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Medical Diagnosis Model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1525" y="38632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43863" y="3872805"/>
            <a:ext cx="14001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Customer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58500" y="419100"/>
            <a:ext cx="800100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19439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19439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19439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19439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4678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4678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4678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4678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8869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8869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8869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8869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33060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5532" y="33060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2069" y="33060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2388" y="33060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5325" y="16249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24788" y="1643955"/>
            <a:ext cx="16383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5325" y="20963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4788" y="2115442"/>
            <a:ext cx="146685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5325" y="25678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24788" y="2586930"/>
            <a:ext cx="169545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5325" y="29869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24788" y="3006030"/>
            <a:ext cx="17621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5325" y="34060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24788" y="3425130"/>
            <a:ext cx="14954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472755"/>
            <a:ext cx="95250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634555"/>
            <a:ext cx="95250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163067"/>
            <a:ext cx="95250" cy="104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163067"/>
            <a:ext cx="95250" cy="1047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634555"/>
            <a:ext cx="95250" cy="1047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472755"/>
            <a:ext cx="95250" cy="104775"/>
          </a:xfrm>
          <a:prstGeom prst="rect">
            <a:avLst/>
          </a:prstGeom>
        </p:spPr>
      </p:pic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42925" y="1177230"/>
          <a:ext cx="11106149" cy="25527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25450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Decision Trees &amp; Random Forests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Gini impurity splitting, bagging ensembles, feature importance.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Gradient Boosting (XGBoost / LightGBM)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Boosting residual optimization, CatBoost handling categorical data.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Dimensionality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Principal Component Analysis (PCA), t-SNE &amp; UMAP projection.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Bayesian Hyperparameter Tuning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GridSearch, RandomSearch &amp; Optuna automated search spaces.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Imbalanced Datasets (SMOTE)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Oversampling, undersampling, focal loss, precision-recall tuning.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0991850" y="476250"/>
            <a:ext cx="6286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 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419100"/>
            <a:ext cx="7203281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28 – 32 (15 HOURS)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400" y="619125"/>
            <a:ext cx="756344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8: Advanced Ensembles &amp; Optimization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25" y="16630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3863" y="1672530"/>
            <a:ext cx="14382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Employee Attrition Model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525" y="21344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29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3863" y="2144017"/>
            <a:ext cx="12668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XGBoost Fraud Engine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525" y="26059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3863" y="2615505"/>
            <a:ext cx="149542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High-Dim Feature Reducer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" y="30250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3863" y="3034605"/>
            <a:ext cx="15621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Automated Optuna Pipeline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1525" y="34441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3863" y="3453705"/>
            <a:ext cx="12954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Fraud Imbalance Model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2152650"/>
          </a:xfrm>
          <a:prstGeom prst="roundRect">
            <a:avLst>
              <a:gd name="adj" fmla="val 530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68025" y="419100"/>
            <a:ext cx="790575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19439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19439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19439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19439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3630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3630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3630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3630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8869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8869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8869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8869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5325" y="16249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4788" y="1643955"/>
            <a:ext cx="13335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5325" y="20440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4788" y="2063055"/>
            <a:ext cx="13335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5325" y="25154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24788" y="2534542"/>
            <a:ext cx="14763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5325" y="2986980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4788" y="3006030"/>
            <a:ext cx="14192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110680"/>
            <a:ext cx="95250" cy="1047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582167"/>
            <a:ext cx="95250" cy="1047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2110680"/>
            <a:ext cx="95250" cy="1047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582167"/>
            <a:ext cx="95250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053655"/>
            <a:ext cx="95250" cy="104775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2925" y="1177230"/>
          <a:ext cx="11106149" cy="2133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PyTorch Neural Architecture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Tensors, Autograd engine, custom nn.Module training loops.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Neural Optimization &amp; Regularization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AdamW optimizers, Dropout, Batch Normalization, LR schedulers.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Convolutional Networks &amp; ResNet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Image convolutions, pooling, Transfer Learning with ImageNet models.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Sequence Models (LSTMs &amp; GRUs)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Recurrent networks for sequential time-series &amp; text processing.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1001375" y="476250"/>
            <a:ext cx="61912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 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419100"/>
            <a:ext cx="6667500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33 – 36 (12 HOURS)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619125"/>
            <a:ext cx="7000875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9: Deep Learning &amp; Computer Vision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25" y="16630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3863" y="1672530"/>
            <a:ext cx="11334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PyTorch Perceptron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" y="20821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3863" y="2091630"/>
            <a:ext cx="11334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Deep Net Optimizer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1525" y="25535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3863" y="2563117"/>
            <a:ext cx="12763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Vision Image Classifier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3025080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3863" y="3034605"/>
            <a:ext cx="12192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Stock Predictor LSTM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23622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7075" y="419100"/>
            <a:ext cx="771525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194399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194399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194399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194399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4678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4678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4678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4678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9917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9917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9917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9917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95325" y="162490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24788" y="1643955"/>
            <a:ext cx="13430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5325" y="20963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4788" y="2115442"/>
            <a:ext cx="15716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5325" y="2620267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24788" y="2639317"/>
            <a:ext cx="1638300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5325" y="314414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4788" y="3163192"/>
            <a:ext cx="13239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163067"/>
            <a:ext cx="95250" cy="1047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210817"/>
            <a:ext cx="95250" cy="1047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686942"/>
            <a:ext cx="95250" cy="1047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1691580"/>
            <a:ext cx="95250" cy="1047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163067"/>
            <a:ext cx="95250" cy="1047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2686942"/>
            <a:ext cx="95250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210817"/>
            <a:ext cx="95250" cy="104775"/>
          </a:xfrm>
          <a:prstGeom prst="rect">
            <a:avLst/>
          </a:prstGeom>
        </p:spPr>
      </p:pic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42925" y="1177230"/>
          <a:ext cx="11106149" cy="23431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68630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Transformers &amp; Self-Attention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Multi-head attention mechanisms, tokenization with HuggingFace.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Vector DBs &amp; Embeddings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ChromaDB, FAISS, Pinecone setup &amp; high-dimensional vector search.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LangChain &amp; Enterprise RAG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Document parsing, chunking, retriever pipelines over private PDF files.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6863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LLM Fine-Tuning (PEFT &amp; LoRA)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Parameter-efficient fine-tuning on domain datasets via HuggingFace.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11020425" y="476250"/>
            <a:ext cx="6000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 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400" y="419100"/>
            <a:ext cx="7197328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37 – 40 (12 HOURS)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619125"/>
            <a:ext cx="7557194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10: Generative AI, LLMs &amp; RAG Systems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1525" y="166300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43863" y="1672530"/>
            <a:ext cx="11430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Attention Visualizer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1525" y="21344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43863" y="2144017"/>
            <a:ext cx="13716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Semantic Search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1525" y="2658367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39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3863" y="2667892"/>
            <a:ext cx="1438275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PDF Knowledge Assistant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1525" y="318224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43863" y="3191767"/>
            <a:ext cx="11239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Domain-Tuned LLM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1167705"/>
            <a:ext cx="11125200" cy="2676525"/>
          </a:xfrm>
          <a:prstGeom prst="roundRect">
            <a:avLst>
              <a:gd name="adj" fmla="val 427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20375" y="419100"/>
            <a:ext cx="1038225" cy="276225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2925" y="1524892"/>
            <a:ext cx="133260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5532" y="1524892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652069" y="1524892"/>
            <a:ext cx="422031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72388" y="1524892"/>
            <a:ext cx="27766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2925" y="2048767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75532" y="2048767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2069" y="2048767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2388" y="2048767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25726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5532" y="25726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2069" y="25726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2388" y="25726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2925" y="29917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75532" y="29917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52069" y="29917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72388" y="29917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2925" y="3410842"/>
            <a:ext cx="133260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75532" y="3410842"/>
            <a:ext cx="277653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652069" y="3410842"/>
            <a:ext cx="422031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72388" y="3410842"/>
            <a:ext cx="277668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5325" y="1677292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24788" y="1696342"/>
            <a:ext cx="14954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95325" y="2201167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024788" y="2220217"/>
            <a:ext cx="14763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5325" y="26726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24788" y="2691705"/>
            <a:ext cx="15335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5325" y="30917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24788" y="3110805"/>
            <a:ext cx="128587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95325" y="3510855"/>
            <a:ext cx="638175" cy="247650"/>
          </a:xfrm>
          <a:prstGeom prst="roundRect">
            <a:avLst>
              <a:gd name="adj" fmla="val 23076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24788" y="3529905"/>
            <a:ext cx="1685925" cy="200025"/>
          </a:xfrm>
          <a:prstGeom prst="roundRect">
            <a:avLst>
              <a:gd name="adj" fmla="val 285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158430"/>
            <a:ext cx="95250" cy="1047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739330"/>
            <a:ext cx="95250" cy="1047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1743967"/>
            <a:ext cx="95250" cy="1047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513" y="2267842"/>
            <a:ext cx="95250" cy="1047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577530"/>
            <a:ext cx="95250" cy="1047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0513" y="1743967"/>
            <a:ext cx="95250" cy="1047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0513" y="2267842"/>
            <a:ext cx="95250" cy="1047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2739330"/>
            <a:ext cx="95250" cy="1047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0513" y="3158430"/>
            <a:ext cx="95250" cy="1047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0513" y="3577530"/>
            <a:ext cx="95250" cy="104775"/>
          </a:xfrm>
          <a:prstGeom prst="rect">
            <a:avLst/>
          </a:prstGeom>
        </p:spPr>
      </p:pic>
      <p:graphicFrame>
        <p:nvGraphicFramePr>
          <p:cNvPr id="46" name="Table 45"/>
          <p:cNvGraphicFramePr>
            <a:graphicFrameLocks noGrp="1"/>
          </p:cNvGraphicFramePr>
          <p:nvPr/>
        </p:nvGraphicFramePr>
        <p:xfrm>
          <a:off x="542925" y="1177230"/>
          <a:ext cx="11106149" cy="26574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32607"/>
                <a:gridCol w="2776537"/>
                <a:gridCol w="4220319"/>
                <a:gridCol w="2776686"/>
              </a:tblGrid>
              <a:tr h="442912"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SESSION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CORE TOPIC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HANDS-ON LAB / APPLICATION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825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LIVE PROJECT BUILT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4291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FastAPI Inference Microservice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Exposing machine learning models as production REST API endpoints.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291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Docker Containerization &amp; MLflow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Packaging models into Docker containers &amp; tracking metrics with MLflow.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4291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Power BI Enterprise Dashboards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Connecting database sources to Power BI, writing DAX measures.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42912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Executive Business Storytelling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Translating model ROC-AUC scores into financial ROI metrics.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42915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Deployed Capstone Presentation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Live defense of end-to-end deployed AI cloud system to panel.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20955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10753725" y="476250"/>
            <a:ext cx="8667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D4ED8"/>
                </a:solidFill>
                <a:latin typeface="Plus Jakarta Sans"/>
              </a:rPr>
              <a:t>Phases 11 &amp; 12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400" y="419100"/>
            <a:ext cx="8679656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SESSIONS 41 – 45 (15 HOURS)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400" y="619125"/>
            <a:ext cx="9113639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Phase 11 &amp; 12: MLOps, Business Intelligence &amp; Capstone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1525" y="1715392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3863" y="1724917"/>
            <a:ext cx="12954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Live Predictor REST API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1525" y="2239267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3863" y="2248792"/>
            <a:ext cx="12763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Dockerized ML Service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1525" y="27107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43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43863" y="2720280"/>
            <a:ext cx="13335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Executive BI Dashboard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1525" y="31298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44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3863" y="3139380"/>
            <a:ext cx="108585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Business ROI Deck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1525" y="3548955"/>
            <a:ext cx="5810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JetBrains Mono"/>
              </a:rPr>
              <a:t>SESS 45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3863" y="3558480"/>
            <a:ext cx="1485900" cy="142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825" i="0" u="none">
                <a:solidFill>
                  <a:srgbClr val="166534"/>
                </a:solidFill>
                <a:latin typeface="Plus Jakarta Sans"/>
              </a:rPr>
              <a:t>Final Production Capstone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33400" y="561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3400" y="2731740"/>
            <a:ext cx="5448300" cy="2095500"/>
          </a:xfrm>
          <a:prstGeom prst="roundRect">
            <a:avLst>
              <a:gd name="adj" fmla="val 636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750790"/>
            <a:ext cx="5448300" cy="205740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2475" y="3303240"/>
            <a:ext cx="501015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2475" y="3789015"/>
            <a:ext cx="501015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2475" y="4274790"/>
            <a:ext cx="501015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2475" y="3303240"/>
            <a:ext cx="28575" cy="3333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475" y="3789015"/>
            <a:ext cx="28575" cy="333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2475" y="4274790"/>
            <a:ext cx="28575" cy="3333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2974627"/>
            <a:ext cx="1524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5" y="2993677"/>
            <a:ext cx="1714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419100"/>
            <a:ext cx="11658600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PEDAGOGICAL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19125"/>
            <a:ext cx="116586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2100" i="0" u="none">
                <a:solidFill>
                  <a:srgbClr val="0F172A"/>
                </a:solidFill>
                <a:latin typeface="Plus Jakarta Sans"/>
              </a:rPr>
              <a:t>Anatomy of Every 3-Hour Applied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2950815"/>
            <a:ext cx="6335791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3-Hour Session Blueprint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969865"/>
            <a:ext cx="551497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200" i="0" u="none">
                <a:solidFill>
                  <a:srgbClr val="2563EB"/>
                </a:solidFill>
                <a:latin typeface="Plus Jakarta Sans"/>
              </a:rPr>
              <a:t>Grading &amp; Practical Assessment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3303240"/>
            <a:ext cx="608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45 Mins: Code Review &amp; Debugging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5350" y="3493740"/>
            <a:ext cx="6084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Instructor-led breakdown of student lab submissions and error logs.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789015"/>
            <a:ext cx="608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Plus Jakarta Sans"/>
              </a:rPr>
              <a:t>75 Mins: Theory &amp; Architectural Deep Dive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3979515"/>
            <a:ext cx="6084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Mathematical mechanics, algorithm trade-offs, and system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5350" y="4274790"/>
            <a:ext cx="6084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60 Mins: Live Coding Sprint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465290"/>
            <a:ext cx="6084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Hands-on exercise building real pipeline components in real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9375" y="3322290"/>
            <a:ext cx="232171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Weekly Practical Labs (12 Labs)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3775" y="3322290"/>
            <a:ext cx="57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35%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9375" y="3693765"/>
            <a:ext cx="18573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Phase Milestone Projects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3775" y="3693765"/>
            <a:ext cx="571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4065240"/>
            <a:ext cx="23693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Deployed Production Capstone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44250" y="4065240"/>
            <a:ext cx="5810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9375" y="4436715"/>
            <a:ext cx="22860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Code Review &amp; GitHub Activity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72825" y="4436715"/>
            <a:ext cx="5524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Plus Jakarta Sans"/>
              </a:rPr>
              <a:t>10%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48475"/>
            <a:ext cx="12192000" cy="95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57900" y="2137469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81250" y="4082355"/>
            <a:ext cx="1866900" cy="77152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38650" y="4082355"/>
            <a:ext cx="2409825" cy="77152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38975" y="4082355"/>
            <a:ext cx="2771775" cy="77152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73203" y="1994594"/>
            <a:ext cx="2845593" cy="142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b="1" sz="900" i="0" u="none">
                <a:solidFill>
                  <a:srgbClr val="60A5FA"/>
                </a:solidFill>
                <a:latin typeface="Plus Jakarta Sans"/>
              </a:rPr>
              <a:t>TRACK PROPOSAL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375" y="2194619"/>
            <a:ext cx="10001250" cy="904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562"/>
              </a:lnSpc>
            </a:pPr>
            <a:r>
              <a:rPr b="1" sz="2850" i="0" u="none">
                <a:solidFill>
                  <a:srgbClr val="FFFFFF"/>
                </a:solidFill>
                <a:latin typeface="Plus Jakarta Sans"/>
              </a:rPr>
              <a:t>A World-Class, Project-Driven Data Science &amp; AI Curriculum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6468" y="3251894"/>
            <a:ext cx="7739062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Plus Jakarta Sans"/>
              </a:rPr>
              <a:t>Transforming students into job-ready Data Scientists &amp; AI Engineers through 45 live sessions and 12+ real-world projects.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3168" y="4244280"/>
            <a:ext cx="164306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38BDF8"/>
                </a:solidFill>
                <a:latin typeface="Plus Jakarta Sans"/>
              </a:rPr>
              <a:t>45 Sessions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3168" y="4549080"/>
            <a:ext cx="1643062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135 Total Live 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2703" y="4244280"/>
            <a:ext cx="232171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4ADE80"/>
                </a:solidFill>
                <a:latin typeface="Plus Jakarta Sans"/>
              </a:rPr>
              <a:t>12+ Live Projects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2703" y="4549080"/>
            <a:ext cx="2321718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Full Portfolio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37784" y="4244280"/>
            <a:ext cx="277415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A78BFA"/>
                </a:solidFill>
                <a:latin typeface="Plus Jakarta Sans"/>
              </a:rPr>
              <a:t>60% Practical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7784" y="4549080"/>
            <a:ext cx="2774156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900" i="0" u="none">
                <a:solidFill>
                  <a:srgbClr val="94A3B8"/>
                </a:solidFill>
                <a:latin typeface="Plus Jakarta Sans"/>
              </a:rPr>
              <a:t>Live Coding In Every 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