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35c9e699-0fc8-4135-bb64-0868ec31edbc.fntdata" /><ns0:Relationship Id="rIdFont20" Type="http://schemas.openxmlformats.org/officeDocument/2006/relationships/font" Target="fonts/b2687e50-d125-49ea-a47b-1aa330be7aa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253805"/>
            <a:ext cx="7143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253805"/>
            <a:ext cx="7143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823144"/>
            <a:ext cx="3381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OFFICIAL CURRICULUM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7079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Data Science &amp; AI: From Zero to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62325"/>
            <a:ext cx="6762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Comprehensive Masterclass with Production-Grade End-to-End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491930"/>
            <a:ext cx="219261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TARGET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34805"/>
            <a:ext cx="184933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Beginner (Level 0) to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2664" y="4491930"/>
            <a:ext cx="298567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2664" y="4634805"/>
            <a:ext cx="248379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Theory + Real-World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0183" y="4491930"/>
            <a:ext cx="220414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0183" y="4634805"/>
            <a:ext cx="185856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Industry-Ready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3598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64110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249810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249810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PROGRAM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Bridging Theory with Production-Level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9675" y="3340298"/>
            <a:ext cx="33813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Complete Progression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73673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Takes students from basic Python arithmetic all the way to advanced Deep Learning, LLMs, and MLOps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3225998"/>
            <a:ext cx="34480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End-to-End 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Every module culminates in a real-world enterprise project covering data ingestion, modeling, and API containerization.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9650" y="3225998"/>
            <a:ext cx="34290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Career Acceleration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Equips students with GitHub-ready production code and interview-grade machine learning system design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0660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430660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5135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45135"/>
            <a:ext cx="5391150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721173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721173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235648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4235648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LEARNING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Competencies Developed Across the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2697360"/>
            <a:ext cx="5757862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Advanced Data Manipulation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030735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Clean, merge, transform, and analyze massive unstructured and structured datasets using Pandas, NumPy, and SQL.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2697360"/>
            <a:ext cx="54483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Machine Learning 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3030735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Build, tune, and evaluate Scikit-Learn models, gradient boosters (XGBoost/LightGBM), and Deep Neural Networks.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211835"/>
            <a:ext cx="578643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MLOps &amp; Model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54521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Containerize models with Docker, build REST APIs using FastAPI, and deploy scalable solutions to cloud infrastructure.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211835"/>
            <a:ext cx="54006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Modern AI &amp; Generative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4545210"/>
            <a:ext cx="495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Implement NLP pipelines, Transformer architectures, Computer Vision, and RAG systems using vector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4973"/>
            <a:ext cx="5324475" cy="2409825"/>
          </a:xfrm>
          <a:prstGeom prst="roundRect">
            <a:avLst>
              <a:gd name="adj" fmla="val 4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38875" y="2635448"/>
            <a:ext cx="5343525" cy="2428875"/>
          </a:xfrm>
          <a:prstGeom prst="roundRect">
            <a:avLst>
              <a:gd name="adj" fmla="val 470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6300" y="2911673"/>
            <a:ext cx="1266825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5100" y="2911673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645098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949898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254698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559498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645098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949898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254698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559498"/>
            <a:ext cx="952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AUDIENCE &amp;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Who Should Enroll in This Program?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2949773"/>
            <a:ext cx="1133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Ideal Candidates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216473"/>
            <a:ext cx="628828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Diverse Professional Backgrounds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949773"/>
            <a:ext cx="895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Prerequisites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216473"/>
            <a:ext cx="5676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Entry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5688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STEM Students seeking high-demand career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38736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Software Engineers transitioning into AI &amp;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41784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Analysts wanting to upgrade from BI to Predictive Modeling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4483298"/>
            <a:ext cx="5988843" cy="3048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Beginners with strong logical aptitude starting at Level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35688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Basic computer literacy and logical thinking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38736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High school level algebra and basic statistics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41784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Zero coding experience required (Level 0 covers Python)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4483298"/>
            <a:ext cx="56769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High motivation for hands-on project 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5498"/>
            <a:ext cx="1927919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70894" y="3135510"/>
            <a:ext cx="1927919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32189" y="2959298"/>
            <a:ext cx="1927919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93483" y="3035498"/>
            <a:ext cx="1927919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54778" y="3035498"/>
            <a:ext cx="1927919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35498"/>
            <a:ext cx="1927919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70894" y="3135510"/>
            <a:ext cx="1927919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32189" y="2959298"/>
            <a:ext cx="1927919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93483" y="3035498"/>
            <a:ext cx="1927919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54778" y="3035498"/>
            <a:ext cx="192791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819" y="3792735"/>
            <a:ext cx="104775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114" y="3792735"/>
            <a:ext cx="104775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408" y="3792735"/>
            <a:ext cx="104775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703" y="3792735"/>
            <a:ext cx="104775" cy="114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CURRICULUM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5-Stage Masterclass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340298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STAGE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3502223"/>
            <a:ext cx="156425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Level 0: Python &amp; 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940373"/>
            <a:ext cx="14897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Syntax, Data Structures, OOP, Linear Algebra &amp; Stats.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7594" y="3440310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STAGE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7594" y="3602235"/>
            <a:ext cx="18303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Level 1: EDA &amp; 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7594" y="3840360"/>
            <a:ext cx="14897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NumPy, Pandas, Data Cleaning, Advanced SQL, Seaborn.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8889" y="3264098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Plus Jakarta Sans"/>
              </a:rPr>
              <a:t>STAGE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889" y="3426023"/>
            <a:ext cx="156425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Level 2: Classical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8889" y="3864173"/>
            <a:ext cx="1489769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Scikit-Learn, Regression, Classification, XGBoost, Tuning.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0183" y="3340298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D97706"/>
                </a:solidFill>
                <a:latin typeface="Plus Jakarta Sans"/>
              </a:rPr>
              <a:t>STAGE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0183" y="3502223"/>
            <a:ext cx="156425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Level 3: Deep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0183" y="3940373"/>
            <a:ext cx="14897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PyTorch, CNNs, RNNs, Transformers, NLP &amp; LLMs.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478" y="3340298"/>
            <a:ext cx="17431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59669"/>
                </a:solidFill>
                <a:latin typeface="Plus Jakarta Sans"/>
              </a:rPr>
              <a:t>STAGE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478" y="3502223"/>
            <a:ext cx="156425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Pro: MLOps &amp; 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478" y="3940373"/>
            <a:ext cx="148976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FastAPI, Docker, CI/CD, MLflow, AWS/GCP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844998"/>
            <a:ext cx="5372100" cy="2009775"/>
          </a:xfrm>
          <a:prstGeom prst="roundRect">
            <a:avLst>
              <a:gd name="adj" fmla="val 5687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49810"/>
            <a:ext cx="23812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135510"/>
            <a:ext cx="17145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FOUNDATION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Levels 0 &amp; 1: Foundations, EDA &amp;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9675" y="3225998"/>
            <a:ext cx="57150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Level 0: Python &amp; Math for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Python syntax, control flow, functions, and OOP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Essential Math: Vectors, Matrices, Derivatives, Probability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Environment setup: Jupyter Notebooks, Git &amp; GitHub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Project 1: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Automated CLI Data Parsing &amp; Sanitizer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3700" y="3111698"/>
            <a:ext cx="54483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Level 1: Data Wrangling &amp;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445073"/>
            <a:ext cx="49339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NumPy vectorization &amp; Pandas dataframe manipulation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Data cleaning, missing value imputation, outlier handling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Advanced SQL: Joins, Window Functions, CTEs in PostgreSQL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Project 2: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Exploratory Data Analysis &amp; Dashboarding on E-Commerce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0698"/>
            <a:ext cx="5372100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02121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CORE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Level 2: Classical Machine Learning &amp; 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997398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Key Topics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330773"/>
            <a:ext cx="49339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Supervised Learning: Linear/Logistic Regression, Decision Trees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Ensemble Methods: Random Forests, XGBoost, LightGBM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Unsupervised Learning: K-Means Clustering, PCA, Dimensionality Reduction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Model Evaluation, Cross-Validation, Hyperparameter Tuning (Optuna)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3225998"/>
            <a:ext cx="54292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End-to-End Project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Predictive House Pricing &amp; Customer Churn Engine: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Building a complete machine learning pipeline with automated feature engineering, model selection, evaluation metrics (ROC-AUC, RMSE), and serialization using Scikit-Learn.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2098"/>
            <a:ext cx="5372100" cy="2695575"/>
          </a:xfrm>
          <a:prstGeom prst="roundRect">
            <a:avLst>
              <a:gd name="adj" fmla="val 42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79261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ADVANCED AI &amp;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Level 3: Deep Learning, Computer Vision &amp; LLMs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768798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Advanced Architectures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102173"/>
            <a:ext cx="49339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Neural Networks fundamentals using PyTorch (Autograd, Optimizers)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Computer Vision: Convolutional Neural Networks (CNNs), ResNet transfer learning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NLP &amp; Transformers: Tokenization, Attention Mechanisms, Hugging Face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Generative AI: RAG (Retrieval-Augmented Generation) &amp; Vector Databases (Pinecone/Chroma)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0" y="3225998"/>
            <a:ext cx="54292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End-to-End Project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Enterprise Document Q&amp;A Chatbot (RAG System):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Building a production-ready Generative AI application integrating custom PDF knowledge bases, Hugging Face embeddings, vector storage, and an LLM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959298"/>
            <a:ext cx="5372100" cy="1781175"/>
          </a:xfrm>
          <a:prstGeom prst="roundRect">
            <a:avLst>
              <a:gd name="adj" fmla="val 641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4981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249810"/>
            <a:ext cx="23812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PRO TRACK &amp; 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Pro Level: Production Engineering &amp; Cloud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225998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Production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• Building high-performance REST APIs with FastAPI &amp; Pydantic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Containerization with Docker &amp; Docker Compose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Experiment Tracking &amp; Model Registry with MLflow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• CI/CD Pipelines with GitHub Actions for automated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0375" y="3225998"/>
            <a:ext cx="53816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End-to-End 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59373"/>
            <a:ext cx="4933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Plus Jakarta Sans"/>
              </a:rPr>
              <a:t>Full-Stack Cloud ML Application: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Deploying a trained machine learning model packaged inside a Docker container onto AWS/GCP, connected to a FastAPI backend and a Streamlit frontend user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3598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73598"/>
            <a:ext cx="35052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9298"/>
            <a:ext cx="3505200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64110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6411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249810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PEDAGOGY &amp;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Active Learning &amp; Industry-Standard Mentorship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9675" y="3340298"/>
            <a:ext cx="33813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Concept + Code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73673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Brief theoretical mathematical intuition followed immediately by live coding and hands-on notebook implementation.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850" y="3340298"/>
            <a:ext cx="342900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Code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673673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Weekly GitHub pull request reviews by senior data scientists to enforce clean coding standards and best practices.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7275" y="3225998"/>
            <a:ext cx="338137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Hackathons &amp; Sprints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559373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Real Kaggle-style data challenges where students collaborate to solve messy, real-world predictive modeling problems.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928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5928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5928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Multi-Tier Student Assessment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2598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9271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End-to-End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87985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5 major milestone projects evaluated on code quality, model accuracy, and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12598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592710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Coding Labs &amp; Quizzes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887985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Weekly Python, SQL, and algorithm challenges testing practical data processing speed.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125985"/>
            <a:ext cx="3714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592710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Capstone Defense &amp; Interview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887985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Live technical defense of the final cloud deployment project before a panel of experts.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05350" y="4124325"/>
            <a:ext cx="2781300" cy="428625"/>
          </a:xfrm>
          <a:prstGeom prst="roundRect">
            <a:avLst>
              <a:gd name="adj" fmla="val 17777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31593" y="2305050"/>
            <a:ext cx="1928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READY FOR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66117" y="2552700"/>
            <a:ext cx="1292423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Empower Your Students With Production AI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286125"/>
            <a:ext cx="773906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Complete syllabus, notebooks, deployment labs, and evaluation frameworks ready for immediate integration into your institution.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24387" y="4238625"/>
            <a:ext cx="29432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Accept Data Science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