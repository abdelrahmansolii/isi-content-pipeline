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14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  <ns0:sldId id="269" ns1:id="rId20"/>
  </ns0:sldIdLst>
  <ns0:sldSz cx="12192000" cy="6858000" type="screen4x3"/>
  <ns0:notesSz cx="6858000" cy="9144000"/>
  <ns0:embeddedFontLst>
    <ns0:embeddedFont>
      <ns0:font typeface="Plus Jakarta Sans"/>
      <ns0:bold ns1:id="rIdFont21"/>
      <ns0:regular ns1:id="rIdFont22"/>
    </ns0:embeddedFont>
    <ns0:embeddedFont>
      <ns0:font typeface="JetBrains Mono"/>
      <ns0:bold ns1:id="rIdFont23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19" Type="http://schemas.openxmlformats.org/officeDocument/2006/relationships/slide" Target="slides/slide13.xml" /><ns0:Relationship Id="rId20" Type="http://schemas.openxmlformats.org/officeDocument/2006/relationships/slide" Target="slides/slide14.xml" /><ns0:Relationship Id="rIdFont21" Type="http://schemas.openxmlformats.org/officeDocument/2006/relationships/font" Target="fonts/f8fda1e0-ce46-4c2d-bb57-ef6f2cae07b2.fntdata" /><ns0:Relationship Id="rIdFont22" Type="http://schemas.openxmlformats.org/officeDocument/2006/relationships/font" Target="fonts/f08d515c-d902-4d9d-9bca-d09259aaf027.fntdata" /><ns0:Relationship Id="rIdFont23" Type="http://schemas.openxmlformats.org/officeDocument/2006/relationships/font" Target="fonts/fd0d5f10-af73-44e7-9fcf-66e6bc39a535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3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62000" y="4492823"/>
            <a:ext cx="9144000" cy="7334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2000" y="1631751"/>
            <a:ext cx="2253704" cy="285750"/>
          </a:xfrm>
          <a:prstGeom prst="roundRect">
            <a:avLst>
              <a:gd name="adj" fmla="val 50000"/>
            </a:avLst>
          </a:prstGeom>
          <a:solidFill>
            <a:srgbClr val="1A2D58"/>
          </a:solidFill>
          <a:ln w="9525">
            <a:solidFill>
              <a:srgbClr val="2D48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2000" y="4492823"/>
            <a:ext cx="91440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2146101"/>
            <a:ext cx="9701212" cy="10894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290"/>
              </a:lnSpc>
            </a:pPr>
            <a:r>
              <a:rPr b="1" sz="3900" i="0" u="none">
                <a:solidFill>
                  <a:srgbClr val="FFFFFF"/>
                </a:solidFill>
                <a:latin typeface="Plus Jakarta Sans"/>
              </a:rPr>
              <a:t>Problem Solving &amp; Algorithmic Foundations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464123"/>
            <a:ext cx="79057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Plus Jakarta Sans"/>
              </a:rPr>
              <a:t>A structured, 120-hour intensive program leveraging world-class ICPC sheets to build interview-ready software engineers and competitive programming champions.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5350" y="1688901"/>
            <a:ext cx="2082254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0A5FA"/>
                </a:solidFill>
                <a:latin typeface="Plus Jakarta Sans"/>
              </a:rPr>
              <a:t>OFFICIAL COURSE PROPOSAL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30004" y="1688901"/>
            <a:ext cx="35718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Plus Jakarta Sans"/>
              </a:rPr>
              <a:t>• Zero-to-Advanced Computer Science Track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4769048"/>
            <a:ext cx="297656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4748B"/>
                </a:solidFill>
                <a:latin typeface="Plus Jakarta Sans"/>
              </a:rPr>
              <a:t>TOTAL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4959548"/>
            <a:ext cx="2976562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38BDF8"/>
                </a:solidFill>
                <a:latin typeface="Plus Jakarta Sans"/>
              </a:rPr>
              <a:t>120 Hours / 40 Sessions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4250" y="4769048"/>
            <a:ext cx="307181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4748B"/>
                </a:solidFill>
                <a:latin typeface="Plus Jakarta Sans"/>
              </a:rPr>
              <a:t>TARGET PACE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4250" y="4959548"/>
            <a:ext cx="3071812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38BDF8"/>
                </a:solidFill>
                <a:latin typeface="Plus Jakarta Sans"/>
              </a:rPr>
              <a:t>3 Sessions / Week (3 hrs)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2700" y="4769048"/>
            <a:ext cx="2607468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4748B"/>
                </a:solidFill>
                <a:latin typeface="Plus Jakarta Sans"/>
              </a:rPr>
              <a:t>PREREQUISITES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2700" y="4959548"/>
            <a:ext cx="2607468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38BDF8"/>
                </a:solidFill>
                <a:latin typeface="Plus Jakarta Sans"/>
              </a:rPr>
              <a:t>Level 0 (Zero Barrier)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3400" y="2974627"/>
            <a:ext cx="3555950" cy="1943100"/>
          </a:xfrm>
          <a:prstGeom prst="roundRect">
            <a:avLst>
              <a:gd name="adj" fmla="val 588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17950" y="2974627"/>
            <a:ext cx="3555950" cy="1943100"/>
          </a:xfrm>
          <a:prstGeom prst="roundRect">
            <a:avLst>
              <a:gd name="adj" fmla="val 588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02500" y="2974627"/>
            <a:ext cx="3555950" cy="1943100"/>
          </a:xfrm>
          <a:prstGeom prst="roundRect">
            <a:avLst>
              <a:gd name="adj" fmla="val 588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5225" y="643830"/>
            <a:ext cx="333375" cy="266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525" y="3212752"/>
            <a:ext cx="419100" cy="4191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6075" y="3212752"/>
            <a:ext cx="419100" cy="4191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0625" y="3212752"/>
            <a:ext cx="419100" cy="4191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012" y="3327052"/>
            <a:ext cx="238125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70375" y="3327052"/>
            <a:ext cx="190500" cy="190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40638" y="3327052"/>
            <a:ext cx="219075" cy="1905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33400" y="381000"/>
            <a:ext cx="648276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2563EB"/>
                </a:solidFill>
                <a:latin typeface="Plus Jakarta Sans"/>
              </a:rPr>
              <a:t>EXECUTIVE SUMMARY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3400" y="590550"/>
            <a:ext cx="6806905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2100" i="0" u="none">
                <a:solidFill>
                  <a:srgbClr val="0F172A"/>
                </a:solidFill>
                <a:latin typeface="Plus Jakarta Sans"/>
              </a:rPr>
              <a:t>Why Offer This Course at Your Institution?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1525" y="3784252"/>
            <a:ext cx="404210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Beyond Syntax-Only Coding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1525" y="4079527"/>
            <a:ext cx="317495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Plus Jakarta Sans"/>
              </a:rPr>
              <a:t>Replaces conventional syntax teaching with algorithmic problem-solving logic and computational thinking.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6075" y="3784252"/>
            <a:ext cx="404210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Top-Tier Tech Interview Mastery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6075" y="4079527"/>
            <a:ext cx="317495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Plus Jakarta Sans"/>
              </a:rPr>
              <a:t>Directly aligns with FAANG &amp; Tier-1 technical screening standards, focusing on optimal space/time complexity.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40625" y="3784252"/>
            <a:ext cx="385137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Competitive Programming Growth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0625" y="4079527"/>
            <a:ext cx="317495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Plus Jakarta Sans"/>
              </a:rPr>
              <a:t>Prepares students for local and regional ICPC/ECPC contests through rigorous Codeforces sheet integration.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3400" y="3217515"/>
            <a:ext cx="3555950" cy="1457325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17950" y="3217515"/>
            <a:ext cx="3555950" cy="1457325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02500" y="3117502"/>
            <a:ext cx="3555950" cy="1657350"/>
          </a:xfrm>
          <a:prstGeom prst="roundRect">
            <a:avLst>
              <a:gd name="adj" fmla="val 689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3400" y="4665315"/>
            <a:ext cx="35559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33400" y="3217515"/>
            <a:ext cx="355595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3400" y="3217515"/>
            <a:ext cx="9525" cy="14573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079825" y="3217515"/>
            <a:ext cx="9525" cy="14573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17950" y="4665315"/>
            <a:ext cx="35559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17950" y="3217515"/>
            <a:ext cx="355595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17950" y="3217515"/>
            <a:ext cx="9525" cy="14573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864375" y="3217515"/>
            <a:ext cx="9525" cy="14573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02500" y="4765327"/>
            <a:ext cx="35559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02500" y="3117502"/>
            <a:ext cx="3555950" cy="381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02500" y="3117502"/>
            <a:ext cx="9525" cy="16573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648926" y="3117502"/>
            <a:ext cx="9525" cy="16573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643830"/>
            <a:ext cx="304800" cy="2667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33400" y="381000"/>
            <a:ext cx="6096558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2563EB"/>
                </a:solidFill>
                <a:latin typeface="Plus Jakarta Sans"/>
              </a:rPr>
              <a:t>CORE METHODOLOGY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590550"/>
            <a:ext cx="6401386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2100" i="0" u="none">
                <a:solidFill>
                  <a:srgbClr val="0F172A"/>
                </a:solidFill>
                <a:latin typeface="Plus Jakarta Sans"/>
              </a:rPr>
              <a:t>The Three Pillars of Technical Excellence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1525" y="3484215"/>
            <a:ext cx="384962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2563EB"/>
                </a:solidFill>
                <a:latin typeface="Plus Jakarta Sans"/>
              </a:rPr>
              <a:t>PILLAR 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1525" y="3703290"/>
            <a:ext cx="4042106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Syntax &amp; Mechanics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1525" y="4036665"/>
            <a:ext cx="31749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Standard I/O, fast execution, pointers, reference passing, and basic control structures.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56075" y="3484215"/>
            <a:ext cx="384962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284C7"/>
                </a:solidFill>
                <a:latin typeface="Plus Jakarta Sans"/>
              </a:rPr>
              <a:t>PILLAR 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56075" y="3703290"/>
            <a:ext cx="4042106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Data Structures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56075" y="4036665"/>
            <a:ext cx="31749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Vectors, frequency arrays, sets, maps, stacks, queues, DSU, and custom comparators.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40625" y="3384202"/>
            <a:ext cx="384962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16A34A"/>
                </a:solidFill>
                <a:latin typeface="Plus Jakarta Sans"/>
              </a:rPr>
              <a:t>PILLAR 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40625" y="3603277"/>
            <a:ext cx="3851374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Algorithmic Depth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40625" y="3936652"/>
            <a:ext cx="317495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Binary search on answers, dynamic programming, graph traversals, and number theory.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3400" y="2903190"/>
            <a:ext cx="5410200" cy="2085975"/>
          </a:xfrm>
          <a:prstGeom prst="roundRect">
            <a:avLst>
              <a:gd name="adj" fmla="val 7305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903190"/>
            <a:ext cx="5410200" cy="2085975"/>
          </a:xfrm>
          <a:prstGeom prst="roundRect">
            <a:avLst>
              <a:gd name="adj" fmla="val 7305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47725" y="4455765"/>
            <a:ext cx="2628900" cy="266700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62725" y="4455765"/>
            <a:ext cx="2609850" cy="266700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8575" y="643830"/>
            <a:ext cx="200025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25" y="3236565"/>
            <a:ext cx="257175" cy="228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2725" y="3236565"/>
            <a:ext cx="200025" cy="228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3400" y="381000"/>
            <a:ext cx="431545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2563EB"/>
                </a:solidFill>
                <a:latin typeface="Plus Jakarta Sans"/>
              </a:rPr>
              <a:t>CURRICULUM INTEGRATION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3400" y="590550"/>
            <a:ext cx="4531230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2100" i="0" u="none">
                <a:solidFill>
                  <a:srgbClr val="0F172A"/>
                </a:solidFill>
                <a:latin typeface="Plus Jakarta Sans"/>
              </a:rPr>
              <a:t>Dual-Sheet Practice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3636615"/>
            <a:ext cx="4876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1E40AF"/>
                </a:solidFill>
                <a:latin typeface="Plus Jakarta Sans"/>
              </a:rPr>
              <a:t>Structured, topic-by-topic progression covering essential language syntax, loops, arrays, strings, standard math, and fundamental recursion.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2025" y="4512915"/>
            <a:ext cx="24955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D4ED8"/>
                </a:solidFill>
                <a:latin typeface="Plus Jakarta Sans"/>
              </a:rPr>
              <a:t>Target: Complete Fundamental Mastery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2725" y="3636615"/>
            <a:ext cx="4876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166534"/>
                </a:solidFill>
                <a:latin typeface="Plus Jakarta Sans"/>
              </a:rPr>
              <a:t>Hand-picked Codeforces problems (A/B/C levels) focusing on pattern recognition, ad-hoc thinking, search-space reduction, and contest speed.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7025" y="4512915"/>
            <a:ext cx="2476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5803D"/>
                </a:solidFill>
                <a:latin typeface="Plus Jakarta Sans"/>
              </a:rPr>
              <a:t>Target: High-Efficiency Problem Solving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9200" y="3217515"/>
            <a:ext cx="3900487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E3A8A"/>
                </a:solidFill>
                <a:latin typeface="Plus Jakarta Sans"/>
              </a:rPr>
              <a:t>ICPC Assiut University Sheets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77050" y="3217515"/>
            <a:ext cx="3637954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4532D"/>
                </a:solidFill>
                <a:latin typeface="Plus Jakarta Sans"/>
              </a:rPr>
              <a:t>Dr. Mostafa Saad Roadmap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95987" y="3089969"/>
            <a:ext cx="5662612" cy="1712416"/>
          </a:xfrm>
          <a:prstGeom prst="roundRect">
            <a:avLst>
              <a:gd name="adj" fmla="val 667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95987" y="4792860"/>
            <a:ext cx="566261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95987" y="3089969"/>
            <a:ext cx="566261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95987" y="3089969"/>
            <a:ext cx="38100" cy="17124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649075" y="3089969"/>
            <a:ext cx="9525" cy="17124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5225" y="643830"/>
            <a:ext cx="333375" cy="2667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2687" y="4221360"/>
            <a:ext cx="104775" cy="1238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2687" y="4430910"/>
            <a:ext cx="104775" cy="1238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3400" y="381000"/>
            <a:ext cx="599089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2563EB"/>
                </a:solidFill>
                <a:latin typeface="Plus Jakarta Sans"/>
              </a:rPr>
              <a:t>TARGET AUDIENCE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3400" y="590550"/>
            <a:ext cx="6290434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2100" i="0" u="none">
                <a:solidFill>
                  <a:srgbClr val="0F172A"/>
                </a:solidFill>
                <a:latin typeface="Plus Jakarta Sans"/>
              </a:rPr>
              <a:t>Enrollment Profile &amp; Zero-Barrier Entry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3400" y="3374677"/>
            <a:ext cx="676959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Designed For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2687" y="3328094"/>
            <a:ext cx="592931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Zero Entry Barrier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2687" y="3661469"/>
            <a:ext cx="5253037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No prior coding background is required. The track starts strictly at Level 0, building logical thinking and syntax mechanics before introducing complex algorithms.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3400" y="3746152"/>
            <a:ext cx="6447234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2563EB"/>
                </a:solidFill>
                <a:latin typeface="Plus Jakarta Sans"/>
              </a:rPr>
              <a:t>• CS Undergraduates: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Seeking rock-solid core CS fundamentals.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3400" y="4041427"/>
            <a:ext cx="6447234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2563EB"/>
                </a:solidFill>
                <a:latin typeface="Plus Jakarta Sans"/>
              </a:rPr>
              <a:t>• Aspiring Competitors: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Aiming for ICPC / ECPC regional ranking.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400" y="4336702"/>
            <a:ext cx="6447234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2563EB"/>
                </a:solidFill>
                <a:latin typeface="Plus Jakarta Sans"/>
              </a:rPr>
              <a:t>• Job Seekers: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Preparing for tier-1 software engineering interviews.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2687" y="4202310"/>
            <a:ext cx="5929312" cy="152400"/>
          </a:xfrm>
          <a:prstGeom prst="rect">
            <a:avLst/>
          </a:prstGeom>
          <a:noFill/>
        </p:spPr>
        <p:txBody>
          <a:bodyPr wrap="none" lIns="104775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Basic computer operation skills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2687" y="4411860"/>
            <a:ext cx="5929312" cy="152400"/>
          </a:xfrm>
          <a:prstGeom prst="rect">
            <a:avLst/>
          </a:prstGeom>
          <a:noFill/>
        </p:spPr>
        <p:txBody>
          <a:bodyPr wrap="none" lIns="104775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Commitment to 10+ hrs/week sheet solving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3400" y="2998440"/>
            <a:ext cx="3555950" cy="1895475"/>
          </a:xfrm>
          <a:prstGeom prst="roundRect">
            <a:avLst>
              <a:gd name="adj" fmla="val 603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17950" y="2998440"/>
            <a:ext cx="3555950" cy="1895475"/>
          </a:xfrm>
          <a:prstGeom prst="roundRect">
            <a:avLst>
              <a:gd name="adj" fmla="val 603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02500" y="3027015"/>
            <a:ext cx="3555950" cy="1838325"/>
          </a:xfrm>
          <a:prstGeom prst="roundRect">
            <a:avLst>
              <a:gd name="adj" fmla="val 62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1900" y="643830"/>
            <a:ext cx="266700" cy="2667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3400" y="381000"/>
            <a:ext cx="610604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2563EB"/>
                </a:solidFill>
                <a:latin typeface="Plus Jakarta Sans"/>
              </a:rPr>
              <a:t>PROGRAM OUTCOMES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590550"/>
            <a:ext cx="6411348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2100" i="0" u="none">
                <a:solidFill>
                  <a:srgbClr val="0F172A"/>
                </a:solidFill>
                <a:latin typeface="Plus Jakarta Sans"/>
              </a:rPr>
              <a:t>Measurable Student Growth Indicators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937" y="3388965"/>
            <a:ext cx="3944875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b="1" sz="4800" i="0" u="none">
                <a:solidFill>
                  <a:srgbClr val="2563EB"/>
                </a:solidFill>
                <a:latin typeface="Plus Jakarta Sans"/>
              </a:rPr>
              <a:t>300+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937" y="4112865"/>
            <a:ext cx="39448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Plus Jakarta Sans"/>
              </a:rPr>
              <a:t>Curated Problems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937" y="4350990"/>
            <a:ext cx="394487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Plus Jakarta Sans"/>
              </a:rPr>
              <a:t>Verified on Codeforces judge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23487" y="3388965"/>
            <a:ext cx="3944875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b="1" sz="4800" i="0" u="none">
                <a:solidFill>
                  <a:srgbClr val="0284C7"/>
                </a:solidFill>
                <a:latin typeface="Plus Jakarta Sans"/>
              </a:rPr>
              <a:t>100%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23487" y="4112865"/>
            <a:ext cx="39448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Plus Jakarta Sans"/>
              </a:rPr>
              <a:t>Interview Readiness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23487" y="4350990"/>
            <a:ext cx="394487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Plus Jakarta Sans"/>
              </a:rPr>
              <a:t>Big-O analysis &amp; optimization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8038" y="3417540"/>
            <a:ext cx="3944875" cy="533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b="1" sz="4200" i="0" u="none">
                <a:solidFill>
                  <a:srgbClr val="16A34A"/>
                </a:solidFill>
                <a:latin typeface="JetBrains Mono"/>
              </a:rPr>
              <a:t>O(N)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8038" y="4065240"/>
            <a:ext cx="39448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Plus Jakarta Sans"/>
              </a:rPr>
              <a:t>Optimal Mindset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8038" y="4303365"/>
            <a:ext cx="39448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Plus Jakarta Sans"/>
              </a:rPr>
              <a:t>Strict 10⁸ ops TLE prevention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668000" y="596205"/>
            <a:ext cx="990600" cy="314325"/>
          </a:xfrm>
          <a:prstGeom prst="roundRect">
            <a:avLst>
              <a:gd name="adj" fmla="val 18181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33400" y="3212752"/>
          <a:ext cx="11125200" cy="146685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952500"/>
                <a:gridCol w="2857500"/>
                <a:gridCol w="7315200"/>
              </a:tblGrid>
              <a:tr h="209550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SESSION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CORE TOPIC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PRACTICAL FOCUS &amp; LAB EXERCISES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2563EB"/>
                          </a:solidFill>
                          <a:latin typeface="JetBrains Mono"/>
                        </a:rPr>
                        <a:t>Session 01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Programming Fundamentals I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Variables, Data Types, Standard I/O, Fast I/O mechanics.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2563EB"/>
                          </a:solidFill>
                          <a:latin typeface="JetBrains Mono"/>
                        </a:rPr>
                        <a:t>Session 02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Programming Fundamentals II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Conditional Branching (if-else, switch), relational logic.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2563EB"/>
                          </a:solidFill>
                          <a:latin typeface="JetBrains Mono"/>
                        </a:rPr>
                        <a:t>Session 03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Loops &amp; Iteration Mechanics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For, while, nested loops execution analysis.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2563EB"/>
                          </a:solidFill>
                          <a:latin typeface="JetBrains Mono"/>
                        </a:rPr>
                        <a:t>Session 04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Arrays &amp; Strings Deep Dive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1D &amp; 2D array memory layout, ASCII operations.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2563EB"/>
                          </a:solidFill>
                          <a:latin typeface="JetBrains Mono"/>
                        </a:rPr>
                        <a:t>Session 05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Functions &amp; Recursion Intro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Scope, pass by value vs reference, base cases.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2563EB"/>
                          </a:solidFill>
                          <a:latin typeface="JetBrains Mono"/>
                        </a:rPr>
                        <a:t>Session 06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Big-O &amp; Complexity Analysis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Calculating operations, TLE prevention (10⁸ ops rule).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0782300" y="653355"/>
            <a:ext cx="8572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2563EB"/>
                </a:solidFill>
                <a:latin typeface="JetBrains Mono"/>
              </a:rPr>
              <a:t>18 Hours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381000"/>
            <a:ext cx="750000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2563EB"/>
                </a:solidFill>
                <a:latin typeface="Plus Jakarta Sans"/>
              </a:rPr>
              <a:t>MODULE 01 (SESSIONS 1 - 6)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590550"/>
            <a:ext cx="7875007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2100" i="0" u="none">
                <a:solidFill>
                  <a:srgbClr val="0F172A"/>
                </a:solidFill>
                <a:latin typeface="Plus Jakarta Sans"/>
              </a:rPr>
              <a:t>Level 0 Programming Onboarding &amp; Complexity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668000" y="596205"/>
            <a:ext cx="990600" cy="314325"/>
          </a:xfrm>
          <a:prstGeom prst="roundRect">
            <a:avLst>
              <a:gd name="adj" fmla="val 18181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33400" y="3184177"/>
          <a:ext cx="11125200" cy="152400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857250"/>
                <a:gridCol w="2667000"/>
                <a:gridCol w="7600950"/>
              </a:tblGrid>
              <a:tr h="190500"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SESSION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CORE TOPIC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PRACTICAL FOCUS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2563EB"/>
                          </a:solidFill>
                          <a:latin typeface="JetBrains Mono"/>
                        </a:rPr>
                        <a:t>Session 07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OOP &amp; Custom Comparators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Structs/Classes, member functions, custom sorting rules.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2563EB"/>
                          </a:solidFill>
                          <a:latin typeface="JetBrains Mono"/>
                        </a:rPr>
                        <a:t>Session 08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STL Containers &amp; Iterators (1)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Dynamic arrays (vector), pair, built-in algorithms.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2563EB"/>
                          </a:solidFill>
                          <a:latin typeface="JetBrains Mono"/>
                        </a:rPr>
                        <a:t>Session 09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STL Containers (Part 2)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Set, map, priority_queue, stack, queue, deque.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2563EB"/>
                          </a:solidFill>
                          <a:latin typeface="JetBrains Mono"/>
                        </a:rPr>
                        <a:t>Session 10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Frequency Array Technique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Direct address tables, O(1) element frequency counting.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2563EB"/>
                          </a:solidFill>
                          <a:latin typeface="JetBrains Mono"/>
                        </a:rPr>
                        <a:t>Session 11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Prefix Sum (1D &amp; 2D)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Range sum queries in O(1) time complexity.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2563EB"/>
                          </a:solidFill>
                          <a:latin typeface="JetBrains Mono"/>
                        </a:rPr>
                        <a:t>Session 12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Partial Sum / Difference Array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Dynamic range updates in O(1) complexity.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2563EB"/>
                          </a:solidFill>
                          <a:latin typeface="JetBrains Mono"/>
                        </a:rPr>
                        <a:t>Session 13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Coordinate Compression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Mapping sparse large ranges (10⁹) to dense indices (10⁵).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0782300" y="653355"/>
            <a:ext cx="8572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2563EB"/>
                </a:solidFill>
                <a:latin typeface="JetBrains Mono"/>
              </a:rPr>
              <a:t>21 Hours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381000"/>
            <a:ext cx="6686661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2563EB"/>
                </a:solidFill>
                <a:latin typeface="Plus Jakarta Sans"/>
              </a:rPr>
              <a:t>MODULE 02 (SESSIONS 7 - 13)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590550"/>
            <a:ext cx="7020994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2100" i="0" u="none">
                <a:solidFill>
                  <a:srgbClr val="0F172A"/>
                </a:solidFill>
                <a:latin typeface="Plus Jakarta Sans"/>
              </a:rPr>
              <a:t>OOP, STL &amp; Array Optimization Techniques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668000" y="596205"/>
            <a:ext cx="990600" cy="314325"/>
          </a:xfrm>
          <a:prstGeom prst="roundRect">
            <a:avLst>
              <a:gd name="adj" fmla="val 18181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33400" y="3188940"/>
          <a:ext cx="11125200" cy="1514475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857250"/>
                <a:gridCol w="2667000"/>
                <a:gridCol w="7600950"/>
              </a:tblGrid>
              <a:tr h="189309"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SESSION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CORE TOPIC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PRACTICAL FOCUS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89309"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2563EB"/>
                          </a:solidFill>
                          <a:latin typeface="JetBrains Mono"/>
                        </a:rPr>
                        <a:t>Session 14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Contribution Technique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Calculating element contributions across continuous subarrays.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89309"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2563EB"/>
                          </a:solidFill>
                          <a:latin typeface="JetBrains Mono"/>
                        </a:rPr>
                        <a:t>Session 15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Binary Search Mechanics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Lower bound, upper bound from scratch.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89309"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2563EB"/>
                          </a:solidFill>
                          <a:latin typeface="JetBrains Mono"/>
                        </a:rPr>
                        <a:t>Session 16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Binary Search on Answer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Monotonic functions, threshold search.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89309"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2563EB"/>
                          </a:solidFill>
                          <a:latin typeface="JetBrains Mono"/>
                        </a:rPr>
                        <a:t>Session 17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Interactive Problems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Flushing output buffers, query-response strategy.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89309"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2563EB"/>
                          </a:solidFill>
                          <a:latin typeface="JetBrains Mono"/>
                        </a:rPr>
                        <a:t>Session 18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Recursion &amp; State Trees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Call stack analysis, power set generation.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89309"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2563EB"/>
                          </a:solidFill>
                          <a:latin typeface="JetBrains Mono"/>
                        </a:rPr>
                        <a:t>Session 19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Backtracking Fundamentals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Combinations, permutations under constraints.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89312"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2563EB"/>
                          </a:solidFill>
                          <a:latin typeface="JetBrains Mono"/>
                        </a:rPr>
                        <a:t>Session 20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Backtracking &amp; Pruning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Pruning search spaces, N-Queens problem, Sudoku solver.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0782300" y="653355"/>
            <a:ext cx="8572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2563EB"/>
                </a:solidFill>
                <a:latin typeface="JetBrains Mono"/>
              </a:rPr>
              <a:t>21 Hours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381000"/>
            <a:ext cx="7095194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2563EB"/>
                </a:solidFill>
                <a:latin typeface="Plus Jakarta Sans"/>
              </a:rPr>
              <a:t>MODULE 03 (SESSIONS 14 - 20)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590550"/>
            <a:ext cx="7449954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2100" i="0" u="none">
                <a:solidFill>
                  <a:srgbClr val="0F172A"/>
                </a:solidFill>
                <a:latin typeface="Plus Jakarta Sans"/>
              </a:rPr>
              <a:t>Subarray Math, Binary Search &amp; Backtracking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668000" y="596205"/>
            <a:ext cx="990600" cy="314325"/>
          </a:xfrm>
          <a:prstGeom prst="roundRect">
            <a:avLst>
              <a:gd name="adj" fmla="val 18181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33400" y="3188940"/>
          <a:ext cx="11125200" cy="1514475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857250"/>
                <a:gridCol w="2667000"/>
                <a:gridCol w="7600950"/>
              </a:tblGrid>
              <a:tr h="189309"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SESSION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CORE TOPIC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PRACTICAL FOCUS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89309"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2563EB"/>
                          </a:solidFill>
                          <a:latin typeface="JetBrains Mono"/>
                        </a:rPr>
                        <a:t>Session 21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Bitmasks Fundamentals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Bitwise operators, setting/clearing bits, subset masking.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89309"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2563EB"/>
                          </a:solidFill>
                          <a:latin typeface="JetBrains Mono"/>
                        </a:rPr>
                        <a:t>Session 22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Bitset Optimizations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Using std::bitset for N/64 speedup optimizations.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89309"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2563EB"/>
                          </a:solidFill>
                          <a:latin typeface="JetBrains Mono"/>
                        </a:rPr>
                        <a:t>Session 23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Number Theory (Part 1)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GCD/LCM, Primality testing O(√N), Sieve of Eratosthenes.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89309"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2563EB"/>
                          </a:solidFill>
                          <a:latin typeface="JetBrains Mono"/>
                        </a:rPr>
                        <a:t>Session 24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Number Theory (Part 2)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Prime Factorization, Segmented Sieve, Euler's Totient.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89309"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2563EB"/>
                          </a:solidFill>
                          <a:latin typeface="JetBrains Mono"/>
                        </a:rPr>
                        <a:t>Session 25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Modular Arithmetic &amp; Power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Binary Exponentiation O(log N), modular inverse.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89309"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2563EB"/>
                          </a:solidFill>
                          <a:latin typeface="JetBrains Mono"/>
                        </a:rPr>
                        <a:t>Session 26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Combinatorics (Part 1)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nCr &amp; nPr formulas, Pascal's Triangle pre-computation.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89312"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2563EB"/>
                          </a:solidFill>
                          <a:latin typeface="JetBrains Mono"/>
                        </a:rPr>
                        <a:t>Session 27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Combinatorics (Part 2)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Inclusion-Exclusion Principle, Stars and Bars method.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0782300" y="653355"/>
            <a:ext cx="8572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2563EB"/>
                </a:solidFill>
                <a:latin typeface="JetBrains Mono"/>
              </a:rPr>
              <a:t>21 Hours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381000"/>
            <a:ext cx="8329166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2563EB"/>
                </a:solidFill>
                <a:latin typeface="Plus Jakarta Sans"/>
              </a:rPr>
              <a:t>MODULE 04 (SESSIONS 21 - 27)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590550"/>
            <a:ext cx="8745624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2100" i="0" u="none">
                <a:solidFill>
                  <a:srgbClr val="0F172A"/>
                </a:solidFill>
                <a:latin typeface="Plus Jakarta Sans"/>
              </a:rPr>
              <a:t>Bitwise Operations, Number Theory &amp; Combinatorics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668000" y="596205"/>
            <a:ext cx="990600" cy="314325"/>
          </a:xfrm>
          <a:prstGeom prst="roundRect">
            <a:avLst>
              <a:gd name="adj" fmla="val 18181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33400" y="3217515"/>
          <a:ext cx="11125200" cy="1457325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952500"/>
                <a:gridCol w="2857500"/>
                <a:gridCol w="7315200"/>
              </a:tblGrid>
              <a:tr h="208189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SESSION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CORE TOPIC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PRACTICAL FOCUS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08189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2563EB"/>
                          </a:solidFill>
                          <a:latin typeface="JetBrains Mono"/>
                        </a:rPr>
                        <a:t>Session 28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Graph Theory Intro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Adjacency List vs Matrix, Directed/Undirected representations.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08189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2563EB"/>
                          </a:solidFill>
                          <a:latin typeface="JetBrains Mono"/>
                        </a:rPr>
                        <a:t>Session 29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Depth-First Search (DFS)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DFS recursion, connected components, cycle detection.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08189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2563EB"/>
                          </a:solidFill>
                          <a:latin typeface="JetBrains Mono"/>
                        </a:rPr>
                        <a:t>Session 30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Breadth-First Search (BFS)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Unweighted shortest paths, 2D grid pathfinding.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08189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2563EB"/>
                          </a:solidFill>
                          <a:latin typeface="JetBrains Mono"/>
                        </a:rPr>
                        <a:t>Session 31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Dijkstra's Algorithm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Priority queue relaxation, weighted shortest paths.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08189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2563EB"/>
                          </a:solidFill>
                          <a:latin typeface="JetBrains Mono"/>
                        </a:rPr>
                        <a:t>Session 32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Disjoint Set Union (DSU)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Path compression &amp; union by rank for dynamic connectivity.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08191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2563EB"/>
                          </a:solidFill>
                          <a:latin typeface="JetBrains Mono"/>
                        </a:rPr>
                        <a:t>Session 33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Minimum Spanning Tree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Kruskal's Algorithm using DSU, Prim's Algorithm.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0782300" y="653355"/>
            <a:ext cx="8572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2563EB"/>
                </a:solidFill>
                <a:latin typeface="JetBrains Mono"/>
              </a:rPr>
              <a:t>18 Hours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381000"/>
            <a:ext cx="6513276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2563EB"/>
                </a:solidFill>
                <a:latin typeface="Plus Jakarta Sans"/>
              </a:rPr>
              <a:t>MODULE 05 (SESSIONS 28 - 33)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590550"/>
            <a:ext cx="6838940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2100" i="0" u="none">
                <a:solidFill>
                  <a:srgbClr val="0F172A"/>
                </a:solidFill>
                <a:latin typeface="Plus Jakarta Sans"/>
              </a:rPr>
              <a:t>Graph Theory, Traversals &amp; Shortest Paths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668000" y="596205"/>
            <a:ext cx="990600" cy="314325"/>
          </a:xfrm>
          <a:prstGeom prst="roundRect">
            <a:avLst>
              <a:gd name="adj" fmla="val 18181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33400" y="3188940"/>
          <a:ext cx="11125200" cy="1514475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857250"/>
                <a:gridCol w="2667000"/>
                <a:gridCol w="7600950"/>
              </a:tblGrid>
              <a:tr h="189309"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SESSION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CORE TOPIC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PRACTICAL FOCUS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89309"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2563EB"/>
                          </a:solidFill>
                          <a:latin typeface="JetBrains Mono"/>
                        </a:rPr>
                        <a:t>Session 34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Dynamic Programming Intro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Memoization (Top-Down DP), state representation.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89309"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2563EB"/>
                          </a:solidFill>
                          <a:latin typeface="JetBrains Mono"/>
                        </a:rPr>
                        <a:t>Session 35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Iterative DP &amp; Tabulation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Tabulation (Bottom-Up DP), space optimization.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89309"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2563EB"/>
                          </a:solidFill>
                          <a:latin typeface="JetBrains Mono"/>
                        </a:rPr>
                        <a:t>Session 36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Classic DP Patterns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0/1 Knapsack, Coin Change, Longest Common Subsequence.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89309"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2563EB"/>
                          </a:solidFill>
                          <a:latin typeface="JetBrains Mono"/>
                        </a:rPr>
                        <a:t>Session 37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String Hashing Mechanics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Polynomial rolling hash, O(1) substring comparison.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89309"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2563EB"/>
                          </a:solidFill>
                          <a:latin typeface="JetBrains Mono"/>
                        </a:rPr>
                        <a:t>Session 38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Permutation Hashing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Hashing unordered sets &amp; permutations for rapid checks.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89309"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2563EB"/>
                          </a:solidFill>
                          <a:latin typeface="JetBrains Mono"/>
                        </a:rPr>
                        <a:t>Session 39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Comprehensive ICPC Contest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5-hour simulated team competition with 10+ multi-topic problems.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89312"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2563EB"/>
                          </a:solidFill>
                          <a:latin typeface="JetBrains Mono"/>
                        </a:rPr>
                        <a:t>Session 40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Editorial &amp; Final Roadmap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Editorial defense, code portfolio review, certification issuance.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0782300" y="653355"/>
            <a:ext cx="8572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2563EB"/>
                </a:solidFill>
                <a:latin typeface="JetBrains Mono"/>
              </a:rPr>
              <a:t>21 Hours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381000"/>
            <a:ext cx="784919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2563EB"/>
                </a:solidFill>
                <a:latin typeface="Plus Jakarta Sans"/>
              </a:rPr>
              <a:t>MODULE 06 (SESSIONS 34 - 40)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590550"/>
            <a:ext cx="8241655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2100" i="0" u="none">
                <a:solidFill>
                  <a:srgbClr val="0F172A"/>
                </a:solidFill>
                <a:latin typeface="Plus Jakarta Sans"/>
              </a:rPr>
              <a:t>Dynamic Programming, String Hashing &amp; Contests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3400" y="2884140"/>
            <a:ext cx="5410200" cy="2124075"/>
          </a:xfrm>
          <a:prstGeom prst="roundRect">
            <a:avLst>
              <a:gd name="adj" fmla="val 538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969865"/>
            <a:ext cx="5410200" cy="1952625"/>
          </a:xfrm>
          <a:prstGeom prst="roundRect">
            <a:avLst>
              <a:gd name="adj" fmla="val 585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9625" y="3531840"/>
            <a:ext cx="4857750" cy="3238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9625" y="3969990"/>
            <a:ext cx="4857750" cy="3238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9625" y="4408140"/>
            <a:ext cx="4857750" cy="3238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9625" y="3531840"/>
            <a:ext cx="28575" cy="3238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9625" y="3969990"/>
            <a:ext cx="28575" cy="3238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9625" y="4408140"/>
            <a:ext cx="28575" cy="32385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1900" y="643830"/>
            <a:ext cx="266700" cy="2667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33400" y="381000"/>
            <a:ext cx="688237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2563EB"/>
                </a:solidFill>
                <a:latin typeface="Plus Jakarta Sans"/>
              </a:rPr>
              <a:t>TEACHING &amp; EVALUATION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3400" y="590550"/>
            <a:ext cx="7226489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2100" i="0" u="none">
                <a:solidFill>
                  <a:srgbClr val="0F172A"/>
                </a:solidFill>
                <a:latin typeface="Plus Jakarta Sans"/>
              </a:rPr>
              <a:t>Session Architecture &amp; Assessment Grading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625" y="3160365"/>
            <a:ext cx="637579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3-Hour Session Architecture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4625" y="3246090"/>
            <a:ext cx="56673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Grading Weight Distribution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2500" y="3531840"/>
            <a:ext cx="589359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Plus Jakarta Sans"/>
              </a:rPr>
              <a:t>First 45 Mins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2500" y="3703290"/>
            <a:ext cx="589359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Sheet review &amp; problem editorial discussion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2500" y="3969990"/>
            <a:ext cx="589359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Plus Jakarta Sans"/>
              </a:rPr>
              <a:t>Next 75 Mins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2500" y="4141440"/>
            <a:ext cx="589359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Interactive topic lecture &amp; proof 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2500" y="4408140"/>
            <a:ext cx="589359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Plus Jakarta Sans"/>
              </a:rPr>
              <a:t>Final 60 Mins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2500" y="4579590"/>
            <a:ext cx="589359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Live coding lab with immediate submission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4625" y="3617565"/>
            <a:ext cx="292893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Plus Jakarta Sans"/>
              </a:rPr>
              <a:t>Weekly Sheet Progress (Codeforces)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58525" y="3617565"/>
            <a:ext cx="6096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40%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24625" y="3903315"/>
            <a:ext cx="250031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Plus Jakarta Sans"/>
              </a:rPr>
              <a:t>Mid-Track Speed Contest (3 hrs)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8050" y="3903315"/>
            <a:ext cx="6000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20%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24625" y="4189065"/>
            <a:ext cx="277415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Plus Jakarta Sans"/>
              </a:rPr>
              <a:t>Final ICPC Mock Competition (5 hrs)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58525" y="4189065"/>
            <a:ext cx="6096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6A34A"/>
                </a:solidFill>
                <a:latin typeface="Plus Jakarta Sans"/>
              </a:rPr>
              <a:t>30%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4625" y="4474815"/>
            <a:ext cx="250031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Plus Jakarta Sans"/>
              </a:rPr>
              <a:t>Code Review &amp; Lab Participation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87100" y="4474815"/>
            <a:ext cx="5810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Plus Jakarta Sans"/>
              </a:rPr>
              <a:t>10%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3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48162" y="4567237"/>
            <a:ext cx="1390650" cy="409575"/>
          </a:xfrm>
          <a:prstGeom prst="roundRect">
            <a:avLst>
              <a:gd name="adj" fmla="val 18604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67412" y="4567237"/>
            <a:ext cx="1876425" cy="409575"/>
          </a:xfrm>
          <a:prstGeom prst="roundRect">
            <a:avLst>
              <a:gd name="adj" fmla="val 18604"/>
            </a:avLst>
          </a:prstGeom>
          <a:solidFill>
            <a:srgbClr val="2E36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00" y="1881187"/>
            <a:ext cx="609600" cy="609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2650" y="2052637"/>
            <a:ext cx="266700" cy="2667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870721" y="2719387"/>
            <a:ext cx="4450556" cy="533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300" i="0" u="none">
                <a:solidFill>
                  <a:srgbClr val="FFFFFF"/>
                </a:solidFill>
                <a:latin typeface="Plus Jakarta Sans"/>
              </a:rPr>
              <a:t>Ready to Launch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47875" y="3405187"/>
            <a:ext cx="809625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Plus Jakarta Sans"/>
              </a:rPr>
              <a:t>Equipping your institution's students with world-class problem-solving confidence, top-tier software interview skills, and competitive excellence.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1031" y="4681537"/>
            <a:ext cx="1204912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FFFFFF"/>
                </a:solidFill>
                <a:latin typeface="Plus Jakarta Sans"/>
              </a:rPr>
              <a:t>40 Sessions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99559" y="4681537"/>
            <a:ext cx="1812131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FFFFFF"/>
                </a:solidFill>
                <a:latin typeface="Plus Jakarta Sans"/>
              </a:rPr>
              <a:t>120 Program Hours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