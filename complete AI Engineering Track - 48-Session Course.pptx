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Gadugi" panose="020B0502040204020203" pitchFamily="34" charset="0"/>
      <p:regular r:id="rId18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04975" y="4149030"/>
            <a:ext cx="1462087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471862" y="4149030"/>
            <a:ext cx="1471612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04975" y="4149030"/>
            <a:ext cx="9525" cy="4762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1862" y="4149030"/>
            <a:ext cx="9525" cy="4762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2000" y="2232719"/>
            <a:ext cx="218649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0A5FA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ACADEMIC CURRICULUM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499419"/>
            <a:ext cx="4850239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3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AI Engineering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34630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Gadugi" panose="020B0502040204020203" pitchFamily="34" charset="0"/>
              </a:rPr>
              <a:t>Deep Level 0 to Advanced Machine Learning &amp; Deep Learning with Modern Applied AI Pathways.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149030"/>
            <a:ext cx="31098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38BDF8"/>
                </a:solidFill>
                <a:latin typeface="Gadugi" panose="020B0502040204020203" pitchFamily="34" charset="0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72880"/>
            <a:ext cx="54662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Gadugi" panose="020B0502040204020203" pitchFamily="34" charset="0"/>
              </a:rPr>
              <a:t>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9300" y="4149030"/>
            <a:ext cx="466474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38BDF8"/>
                </a:solidFill>
                <a:latin typeface="Gadugi" panose="020B0502040204020203" pitchFamily="34" charset="0"/>
              </a:rPr>
              <a:t>144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9300" y="4472880"/>
            <a:ext cx="99706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Gadugi" panose="020B0502040204020203" pitchFamily="34" charset="0"/>
              </a:rPr>
              <a:t>CONTACT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6187" y="4149030"/>
            <a:ext cx="310983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38BDF8"/>
                </a:solidFill>
                <a:latin typeface="Gadugi" panose="020B0502040204020203" pitchFamily="34" charset="0"/>
              </a:rPr>
              <a:t>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6187" y="4472880"/>
            <a:ext cx="100828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Gadugi" panose="020B0502040204020203" pitchFamily="34" charset="0"/>
              </a:rPr>
              <a:t>WEEKS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56607"/>
            <a:ext cx="2628900" cy="1805582"/>
          </a:xfrm>
          <a:prstGeom prst="roundRect">
            <a:avLst>
              <a:gd name="adj" fmla="val 63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90900" y="2856607"/>
            <a:ext cx="2628900" cy="1805582"/>
          </a:xfrm>
          <a:prstGeom prst="roundRect">
            <a:avLst>
              <a:gd name="adj" fmla="val 63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2856607"/>
            <a:ext cx="2628900" cy="1805582"/>
          </a:xfrm>
          <a:prstGeom prst="roundRect">
            <a:avLst>
              <a:gd name="adj" fmla="val 63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53500" y="2856607"/>
            <a:ext cx="2628900" cy="1805582"/>
          </a:xfrm>
          <a:prstGeom prst="roundRect">
            <a:avLst>
              <a:gd name="adj" fmla="val 633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6526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856607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856607"/>
            <a:ext cx="38100" cy="180558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28975" y="2856607"/>
            <a:ext cx="9525" cy="18055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90900" y="46526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90900" y="2856607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90900" y="2856607"/>
            <a:ext cx="38100" cy="180558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0275" y="2856607"/>
            <a:ext cx="9525" cy="18055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6526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856607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856607"/>
            <a:ext cx="38100" cy="180558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91575" y="2856607"/>
            <a:ext cx="9525" cy="18055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53500" y="4652664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53500" y="2856607"/>
            <a:ext cx="26289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53500" y="2856607"/>
            <a:ext cx="38100" cy="180558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572875" y="2856607"/>
            <a:ext cx="9525" cy="18055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105525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457200"/>
            <a:ext cx="1556516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CURRICULUM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23900"/>
            <a:ext cx="4076244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16-Week Program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165770"/>
            <a:ext cx="537121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Structured into 4 comprehensive modules designed for steady skill progression.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6086475"/>
            <a:ext cx="3670877" cy="161583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Session Cadence: 3 Sessions / Week • 3 Hours /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6400" y="6086475"/>
            <a:ext cx="19845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Total Contact Hours: 144 Hours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3094732"/>
            <a:ext cx="65081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6300" y="3313807"/>
            <a:ext cx="1740092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Level 0 Programming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6300" y="3590032"/>
            <a:ext cx="16110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Sessions 01 - 12 (36 Hours)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6300" y="3904357"/>
            <a:ext cx="22193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Zero-to-hero Python, OOP, Git, NumPy, Pandas, Data Cleanliness &amp; Math Foundations.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094732"/>
            <a:ext cx="65081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313807"/>
            <a:ext cx="187211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Core Machine 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590032"/>
            <a:ext cx="16110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Sessions 13 - 24 (36 Hours)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904357"/>
            <a:ext cx="22193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Supervised models, </a:t>
            </a:r>
            <a:r>
              <a:rPr sz="975" b="0" i="0" u="none" dirty="0" err="1">
                <a:solidFill>
                  <a:srgbClr val="334155"/>
                </a:solidFill>
                <a:latin typeface="Gadugi" panose="020B0502040204020203" pitchFamily="34" charset="0"/>
              </a:rPr>
              <a:t>XGBoost</a:t>
            </a: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, Scikit-Learn Pipelines, Preprocessing &amp; Clustering.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8900" y="3094732"/>
            <a:ext cx="65081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8900" y="3313807"/>
            <a:ext cx="1601208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Core Deep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8900" y="3590032"/>
            <a:ext cx="16110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Sessions 25 - 36 (36 Hours)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8900" y="3904357"/>
            <a:ext cx="22193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 err="1">
                <a:solidFill>
                  <a:srgbClr val="334155"/>
                </a:solidFill>
                <a:latin typeface="Gadugi" panose="020B0502040204020203" pitchFamily="34" charset="0"/>
              </a:rPr>
              <a:t>PyTorch</a:t>
            </a: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 </a:t>
            </a:r>
            <a:r>
              <a:rPr sz="975" b="0" i="0" u="none" dirty="0" err="1">
                <a:solidFill>
                  <a:srgbClr val="334155"/>
                </a:solidFill>
                <a:latin typeface="Gadugi" panose="020B0502040204020203" pitchFamily="34" charset="0"/>
              </a:rPr>
              <a:t>autograd</a:t>
            </a: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, custom neural nets, training loops, CNNs &amp; Transfer Learning.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0200" y="3094732"/>
            <a:ext cx="65081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0200" y="3313807"/>
            <a:ext cx="1649491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Surface AI Pathways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20200" y="3590032"/>
            <a:ext cx="16110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Sessions 37 - 48 (36 Hours)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20200" y="3904357"/>
            <a:ext cx="2219325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Practical hands-on pathway orientation across </a:t>
            </a:r>
            <a:r>
              <a:rPr sz="975" b="0" i="0" u="none" dirty="0" err="1">
                <a:solidFill>
                  <a:srgbClr val="334155"/>
                </a:solidFill>
                <a:latin typeface="Gadugi" panose="020B0502040204020203" pitchFamily="34" charset="0"/>
              </a:rPr>
              <a:t>MLOps</a:t>
            </a:r>
            <a:r>
              <a:rPr sz="975" b="0" i="0" u="none" dirty="0">
                <a:solidFill>
                  <a:srgbClr val="334155"/>
                </a:solidFill>
                <a:latin typeface="Gadugi" panose="020B0502040204020203" pitchFamily="34" charset="0"/>
              </a:rPr>
              <a:t>, Computer Vision, NLP &amp; GenAI.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13758"/>
            <a:ext cx="1828800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590800" y="4113758"/>
            <a:ext cx="3543300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429767"/>
            <a:ext cx="166231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01 • WEEKS 1 TO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6467"/>
            <a:ext cx="8361904" cy="4805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Level 0 Programming &amp; Data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51758"/>
            <a:ext cx="676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Building complete zero-to-hero proficiency in Python, version control, OOP, mathematical libraries, and data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89958"/>
            <a:ext cx="1619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12 Sessions (36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189958"/>
            <a:ext cx="33337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Practical Capstone: Automated Data EDA CLI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5717912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All sessions include 45 min theory, 45 min instructor coding, 75 min hands-on lab, and 15 min review.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549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01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129067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01 – 06: Python &amp; Software 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659174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Mastering core syntax, control structures, functional design, Git workflows, and object orientation.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106935"/>
            <a:ext cx="14715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Python Setup &amp; Syntax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268860"/>
            <a:ext cx="248625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Environment configuration, primitive types, logic.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716535"/>
            <a:ext cx="137056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Control Flow &amp; Loops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878460"/>
            <a:ext cx="258564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Conditionals, for/while loops, branching structures.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4326135"/>
            <a:ext cx="97943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Data Structures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488060"/>
            <a:ext cx="250709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Lists, tuples, dictionaries, sets &amp; comprehensions.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3106935"/>
            <a:ext cx="134492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Functions &amp; Modules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1350" y="3268860"/>
            <a:ext cx="270907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Scope, parameters, lambdas, and exception handling.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716535"/>
            <a:ext cx="136095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Git &amp; Version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878460"/>
            <a:ext cx="258724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Commands, branching models, commits &amp; GitHub.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4326135"/>
            <a:ext cx="121507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OOP Fundamentals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488060"/>
            <a:ext cx="272831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Classes, inheritance, encapsulation &amp; design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482503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Hands-on outcome: Students deliver a production-grade Python package on GitHub.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549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01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713074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07 – 12: Data Engineering &amp; Math Primitives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61393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Vectorization, numerical processing, visualization, applied calculus, and Project 1 execution.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106935"/>
            <a:ext cx="134652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NumPy Vectorization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268860"/>
            <a:ext cx="265617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NDArrays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broadcasting, slicing &amp; matrix operations.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716535"/>
            <a:ext cx="149880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Pandas Data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878460"/>
            <a:ext cx="229389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DataFrames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indexing, filtering &amp; dataset I/O.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4326135"/>
            <a:ext cx="164949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Advanced Pandas &amp; Clean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488060"/>
            <a:ext cx="261770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Groupby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aggregations, pivot tables &amp; missing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3106935"/>
            <a:ext cx="114294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Data Visualization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1350" y="3268860"/>
            <a:ext cx="272831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Matplotlib &amp; Seaborn correlation &amp; distribution plots.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716535"/>
            <a:ext cx="126316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Applied Math for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878460"/>
            <a:ext cx="247183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Vectors, derivatives &amp; gradient descent intuition.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4326135"/>
            <a:ext cx="203581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PROJECT 1: Automated Data CLI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488060"/>
            <a:ext cx="293990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Build an OOP CLI tool generating automated EDA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13758"/>
            <a:ext cx="1828800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590800" y="4113758"/>
            <a:ext cx="4410075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429767"/>
            <a:ext cx="166231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02 • WEEKS 5 TO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6467"/>
            <a:ext cx="7515904" cy="4805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Core Machine Learning &amp; Scikit-Learn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51758"/>
            <a:ext cx="676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Deep dive into classical machine learning algorithms, statistical validation, ensemble methods, and automated pipelines.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89958"/>
            <a:ext cx="1619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12 Sessions (36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189958"/>
            <a:ext cx="4200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Practical Capstone: End-to-End Production Predictive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382957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Practical focus on real tabular datasets and overcoming overfitting.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549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02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377404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13 – 18: Supervised Learning &amp; Ensembles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531632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Regression, classification metrics, tree-based models, and boosting algorithms.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106935"/>
            <a:ext cx="101951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ML Foundations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268860"/>
            <a:ext cx="294311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Supervised vs Unsupervised, features, and train/test splits.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716535"/>
            <a:ext cx="11124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Linear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878460"/>
            <a:ext cx="292868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Cost functions, MSE, gradient descent, and regularization.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4326135"/>
            <a:ext cx="121347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Logistic Regression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488060"/>
            <a:ext cx="282609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Sigmoid, log loss, binary classification, decision bounds.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3106935"/>
            <a:ext cx="117019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Evaluation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1350" y="3268860"/>
            <a:ext cx="292548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Precision, Recall, F1-Score, ROC-AUC &amp; Confusion Matrix.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716535"/>
            <a:ext cx="90730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Decision Trees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878460"/>
            <a:ext cx="290784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Entropy, Gini impurity, tree splitting &amp; pruning strategies.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4326135"/>
            <a:ext cx="186589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Random Forests &amp; Ensembles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488060"/>
            <a:ext cx="286136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Bagging, feature importances &amp; hyperparameter tuning.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465832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Capstone output: A fully pickled, production-ready Scikit-Learn inference pipeline.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549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02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8541184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19 – 24: Gradient Boosting &amp; Production Pipelines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558165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XGBoost</a:t>
            </a:r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feature engineering pipelines, unsupervised learning, and Project 2 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106935"/>
            <a:ext cx="115256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Gradient Boosting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268860"/>
            <a:ext cx="271067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Boosting mechanics,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XGBoost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&amp;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LightGBM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hands-on.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716535"/>
            <a:ext cx="151964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Hyperparameter 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878460"/>
            <a:ext cx="256640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GridSearchCV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RandomizedSearchCV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&amp; K-Fold CV.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4326135"/>
            <a:ext cx="139621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Feature Preprocessing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488060"/>
            <a:ext cx="270586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Encoding, scaling, and handling imbalanced datasets.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3106935"/>
            <a:ext cx="153728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Unsupervised Clustering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1350" y="3268860"/>
            <a:ext cx="312104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K-Means, silhouette analysis &amp; PCA dimensionality reduction.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716535"/>
            <a:ext cx="135133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Scikit-Learn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878460"/>
            <a:ext cx="281487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ColumnTransformers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custom transformers &amp; pipelines.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4326135"/>
            <a:ext cx="225222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PROJECT 2: End-to-End ML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488060"/>
            <a:ext cx="284693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Deployable predictive pipeline for complex tabular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13758"/>
            <a:ext cx="1828800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590800" y="4113758"/>
            <a:ext cx="3743325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429767"/>
            <a:ext cx="173444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03 • WEEKS 9 TO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6467"/>
            <a:ext cx="6617132" cy="4805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Core Deep Learning with </a:t>
            </a:r>
            <a:r>
              <a:rPr sz="3300" b="1" i="0" u="none" dirty="0" err="1">
                <a:solidFill>
                  <a:srgbClr val="0F172A"/>
                </a:solidFill>
                <a:latin typeface="Gadugi" panose="020B0502040204020203" pitchFamily="34" charset="0"/>
              </a:rPr>
              <a:t>PyTorch</a:t>
            </a:r>
            <a:endParaRPr sz="3300" b="1" i="0" u="none" dirty="0">
              <a:solidFill>
                <a:srgbClr val="0F172A"/>
              </a:solidFill>
              <a:latin typeface="Gadug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351758"/>
            <a:ext cx="676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Mastering neural architectures from raw tensors to custom </a:t>
            </a:r>
            <a:r>
              <a:rPr sz="15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PyTorch</a:t>
            </a:r>
            <a:r>
              <a:rPr sz="15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models, CNNs, and Transfer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89958"/>
            <a:ext cx="1619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12 Sessions (36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189958"/>
            <a:ext cx="3533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Practical Capstone: Custom </a:t>
            </a:r>
            <a:r>
              <a:rPr sz="1050" b="1" i="0" u="none" dirty="0" err="1">
                <a:solidFill>
                  <a:srgbClr val="334155"/>
                </a:solidFill>
                <a:latin typeface="Gadugi" panose="020B0502040204020203" pitchFamily="34" charset="0"/>
              </a:rPr>
              <a:t>PyTorch</a:t>
            </a:r>
            <a:r>
              <a:rPr sz="10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 Deep Classifier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560890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Direct focus on industry-standard </a:t>
            </a:r>
            <a:r>
              <a:rPr sz="975" b="0" i="1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PyTorch</a:t>
            </a:r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idioms without high-level wrapper abstraction shortcuts.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549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03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906010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25 – 30: Neural Nets &amp; </a:t>
            </a:r>
            <a:r>
              <a:rPr sz="2400" b="1" i="0" u="none" dirty="0" err="1">
                <a:solidFill>
                  <a:srgbClr val="0F172A"/>
                </a:solidFill>
                <a:latin typeface="Gadugi" panose="020B0502040204020203" pitchFamily="34" charset="0"/>
              </a:rPr>
              <a:t>PyTorch</a:t>
            </a: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 Fundamentals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636206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Tensors, </a:t>
            </a:r>
            <a:r>
              <a:rPr sz="12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autograd</a:t>
            </a:r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graphs, custom </a:t>
            </a:r>
            <a:r>
              <a:rPr sz="12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nn.Module</a:t>
            </a:r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classes, custom training loops, and </a:t>
            </a:r>
            <a:r>
              <a:rPr sz="12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DataLoaders</a:t>
            </a:r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106935"/>
            <a:ext cx="142507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Neural Network Basics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268860"/>
            <a:ext cx="260488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Perceptrons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weights, biases &amp; activation functions.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716535"/>
            <a:ext cx="171200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1E293B"/>
                </a:solidFill>
                <a:latin typeface="Gadugi" panose="020B0502040204020203" pitchFamily="34" charset="0"/>
              </a:rPr>
              <a:t>PyTorch</a:t>
            </a:r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 Tensor 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878460"/>
            <a:ext cx="315951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Tensor ops, shapes, broadcasting &amp; GPU device management.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4326135"/>
            <a:ext cx="138980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1E293B"/>
                </a:solidFill>
                <a:latin typeface="Gadugi" panose="020B0502040204020203" pitchFamily="34" charset="0"/>
              </a:rPr>
              <a:t>Autograd</a:t>
            </a:r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 &amp; Backprop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488060"/>
            <a:ext cx="314829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Computation graphs, gradient calculation &amp; backward passes.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3106935"/>
            <a:ext cx="12375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1E293B"/>
                </a:solidFill>
                <a:latin typeface="Gadugi" panose="020B0502040204020203" pitchFamily="34" charset="0"/>
              </a:rPr>
              <a:t>PyTorch</a:t>
            </a:r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 </a:t>
            </a:r>
            <a:r>
              <a:rPr sz="1050" b="1" i="0" u="none" dirty="0" err="1">
                <a:solidFill>
                  <a:srgbClr val="1E293B"/>
                </a:solidFill>
                <a:latin typeface="Gadugi" panose="020B0502040204020203" pitchFamily="34" charset="0"/>
              </a:rPr>
              <a:t>nn.Module</a:t>
            </a:r>
            <a:endParaRPr sz="1050" b="1" i="0" u="none" dirty="0">
              <a:solidFill>
                <a:srgbClr val="1E293B"/>
              </a:solidFill>
              <a:latin typeface="Gadugi" panose="020B0502040204020203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91350" y="3268860"/>
            <a:ext cx="2725105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Building multi-layer perceptron (MLP) custom classes.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716535"/>
            <a:ext cx="172964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Training Loop Construction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878460"/>
            <a:ext cx="254396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Forward steps, loss calculation, optimizer updates.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4326135"/>
            <a:ext cx="139621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Dataset &amp; </a:t>
            </a:r>
            <a:r>
              <a:rPr sz="1050" b="1" i="0" u="none" dirty="0" err="1">
                <a:solidFill>
                  <a:srgbClr val="1E293B"/>
                </a:solidFill>
                <a:latin typeface="Gadugi" panose="020B0502040204020203" pitchFamily="34" charset="0"/>
              </a:rPr>
              <a:t>DataLoader</a:t>
            </a:r>
            <a:endParaRPr sz="1050" b="1" i="0" u="none" dirty="0">
              <a:solidFill>
                <a:srgbClr val="1E293B"/>
              </a:solidFill>
              <a:latin typeface="Gadugi" panose="020B0502040204020203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91350" y="4488060"/>
            <a:ext cx="288700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Custom Datasets, mini-batching &amp;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PyTorch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DataLoaders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0021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6117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221360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1497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7593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368998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402674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Core Milestone: Mastery of custom </a:t>
            </a:r>
            <a:r>
              <a:rPr sz="975" b="0" i="1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PyTorch</a:t>
            </a:r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architecture development.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55491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03 BREAKDOWN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484613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31 – 36: CNNs, Transfer Learning &amp;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646914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Regularization, convolutional networks, pre-trained backbones, sequence models, and Project 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500" y="31878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37974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4407098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0650" y="3106935"/>
            <a:ext cx="166872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Regularization Techniques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0650" y="3268860"/>
            <a:ext cx="269785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Dropout, weight decay,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BatchNorm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&amp; early stopping.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716535"/>
            <a:ext cx="122148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CNN Fundamentals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878460"/>
            <a:ext cx="269945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Convolutions, pooling layers &amp; feature map intuition.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4326135"/>
            <a:ext cx="152605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Transfer Learning Basics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488060"/>
            <a:ext cx="319318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Pre-trained models (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ResNet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), backbone freezing &amp; fine-tuning.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1350" y="3106935"/>
            <a:ext cx="14523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Sequence Models Intro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1350" y="3268860"/>
            <a:ext cx="224741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RNN and LSTM intuition for sequential data.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716535"/>
            <a:ext cx="16927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Diagnostics &amp; Checkpoints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878460"/>
            <a:ext cx="252953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Logging metrics,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state_dict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saving &amp; loss tracking.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4326135"/>
            <a:ext cx="22185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PROJECT 3: </a:t>
            </a:r>
            <a:r>
              <a:rPr sz="1050" b="1" i="0" u="none" dirty="0" err="1">
                <a:solidFill>
                  <a:srgbClr val="1E40AF"/>
                </a:solidFill>
                <a:latin typeface="Gadugi" panose="020B0502040204020203" pitchFamily="34" charset="0"/>
              </a:rPr>
              <a:t>PyTorch</a:t>
            </a:r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 Deep Network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488060"/>
            <a:ext cx="298318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Train and evaluate a custom </a:t>
            </a:r>
            <a:r>
              <a:rPr sz="900" b="0" i="0" u="none" dirty="0" err="1">
                <a:solidFill>
                  <a:srgbClr val="1E40AF"/>
                </a:solidFill>
                <a:latin typeface="Gadugi" panose="020B0502040204020203" pitchFamily="34" charset="0"/>
              </a:rPr>
              <a:t>PyTorch</a:t>
            </a:r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 deep neural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13758"/>
            <a:ext cx="1828800" cy="314325"/>
          </a:xfrm>
          <a:prstGeom prst="roundRect">
            <a:avLst>
              <a:gd name="adj" fmla="val 1818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590800" y="4113758"/>
            <a:ext cx="3343275" cy="314325"/>
          </a:xfrm>
          <a:prstGeom prst="roundRect">
            <a:avLst>
              <a:gd name="adj" fmla="val 18181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2429767"/>
            <a:ext cx="1806585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04 • WEEKS 13 TO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6467"/>
            <a:ext cx="8318688" cy="4805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3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Surface-Level Pathways &amp; Applied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351758"/>
            <a:ext cx="6762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Guided roadmap exploration across modern AI specializations: </a:t>
            </a:r>
            <a:r>
              <a:rPr sz="15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MLOps</a:t>
            </a:r>
            <a:r>
              <a:rPr sz="15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Computer Vision, NLP, and Generative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89958"/>
            <a:ext cx="16192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12 Sessions (36 Hours)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189958"/>
            <a:ext cx="3133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34155"/>
                </a:solidFill>
                <a:latin typeface="Gadugi" panose="020B0502040204020203" pitchFamily="34" charset="0"/>
              </a:rPr>
              <a:t>Capstone: Student Pathway Showcase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402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498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594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1402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7498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3594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2879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8975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5071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2879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8975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5071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5128007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Focus: Surface-level orientation to practical application without deep theoretical overhead.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4378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04 PATHWAYS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791620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37 – 42: </a:t>
            </a:r>
            <a:r>
              <a:rPr sz="2400" b="1" i="0" u="none" dirty="0" err="1">
                <a:solidFill>
                  <a:srgbClr val="0F172A"/>
                </a:solidFill>
                <a:latin typeface="Gadugi" panose="020B0502040204020203" pitchFamily="34" charset="0"/>
              </a:rPr>
              <a:t>MLOps</a:t>
            </a: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 &amp; Computer Vision Pathways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632025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Serving models with </a:t>
            </a:r>
            <a:r>
              <a:rPr sz="12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FastAPI</a:t>
            </a:r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&amp; Docker, followed by vision operations with OpenCV and YOLO.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864048"/>
            <a:ext cx="11653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MLOPS PATHWAY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300" y="2864048"/>
            <a:ext cx="193803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COMPUTER VISION PATHWAY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3260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356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452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33260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9356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5452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245048"/>
            <a:ext cx="143148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1E293B"/>
                </a:solidFill>
                <a:latin typeface="Gadugi" panose="020B0502040204020203" pitchFamily="34" charset="0"/>
              </a:rPr>
              <a:t>FastAPI</a:t>
            </a:r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 Model Serving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406973"/>
            <a:ext cx="239488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REST API creation, </a:t>
            </a:r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Pydantic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 &amp; endpoint design.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3854648"/>
            <a:ext cx="152926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Docker Containerization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016573"/>
            <a:ext cx="268342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 err="1">
                <a:solidFill>
                  <a:srgbClr val="64748B"/>
                </a:solidFill>
                <a:latin typeface="Gadugi" panose="020B0502040204020203" pitchFamily="34" charset="0"/>
              </a:rPr>
              <a:t>Dockerfiles</a:t>
            </a:r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, image building &amp; container deployment.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0650" y="4464248"/>
            <a:ext cx="143468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 err="1">
                <a:solidFill>
                  <a:srgbClr val="1E40AF"/>
                </a:solidFill>
                <a:latin typeface="Gadugi" panose="020B0502040204020203" pitchFamily="34" charset="0"/>
              </a:rPr>
              <a:t>MLOps</a:t>
            </a:r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 Pathway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0650" y="4626173"/>
            <a:ext cx="2712281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Deploying containerized API with Postman 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245048"/>
            <a:ext cx="13721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OpenCV &amp; Vision 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406973"/>
            <a:ext cx="255358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Image filtering, edge detection &amp; transformations.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3854648"/>
            <a:ext cx="141545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Object Detection Intro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016573"/>
            <a:ext cx="267220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YOLO architecture overview &amp; pre-trained detectors.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1350" y="4464248"/>
            <a:ext cx="11653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CV Pathway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1350" y="4626173"/>
            <a:ext cx="236282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Real-time object classification script showcase.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402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7498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594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31402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37498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0300" y="4359473"/>
            <a:ext cx="5372100" cy="514350"/>
          </a:xfrm>
          <a:prstGeom prst="roundRect">
            <a:avLst>
              <a:gd name="adj" fmla="val 14814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2475" y="32879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2475" y="38975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2475" y="45071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53175" y="32879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3175" y="38975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53175" y="4507110"/>
            <a:ext cx="523875" cy="219075"/>
          </a:xfrm>
          <a:prstGeom prst="roundRect">
            <a:avLst>
              <a:gd name="adj" fmla="val 26086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6248400"/>
            <a:ext cx="5390899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1" u="none" dirty="0">
                <a:solidFill>
                  <a:srgbClr val="64748B"/>
                </a:solidFill>
                <a:latin typeface="Gadugi" panose="020B0502040204020203" pitchFamily="34" charset="0"/>
              </a:rPr>
              <a:t> * Capstone Outcome: Students present a working end-to-end AI project in their chosen pathway.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43789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MODULE 04 PATHWAYS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23900"/>
            <a:ext cx="7342587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Sessions 43 – 48: NLP, GenAI &amp; Capstone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165770"/>
            <a:ext cx="680795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Tokenization, Hugging Face transformers, LLM prompt engineering, RAG systems, and final capstone.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2864048"/>
            <a:ext cx="96500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NLP PATHWAY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0300" y="2864048"/>
            <a:ext cx="203902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GEN AI PATHWAY &amp; CAPSTONE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3260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356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452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33260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39356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4545210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S 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0650" y="3245048"/>
            <a:ext cx="128400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Text &amp; Tokenization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0650" y="3406973"/>
            <a:ext cx="221054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TF-IDF, word embeddings &amp; preprocessing.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0650" y="3854648"/>
            <a:ext cx="174567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Hugging Face Transformers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4016573"/>
            <a:ext cx="223939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Pre-trained BERT pipelines and abstractions.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0650" y="4464248"/>
            <a:ext cx="125034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40AF"/>
                </a:solidFill>
                <a:latin typeface="Gadugi" panose="020B0502040204020203" pitchFamily="34" charset="0"/>
              </a:rPr>
              <a:t>NLP Pathway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90650" y="4626173"/>
            <a:ext cx="240290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E40AF"/>
                </a:solidFill>
                <a:latin typeface="Gadugi" panose="020B0502040204020203" pitchFamily="34" charset="0"/>
              </a:rPr>
              <a:t>Building an intermediate text classification tool.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1350" y="3245048"/>
            <a:ext cx="119423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LLMs &amp; Prompting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1350" y="3406973"/>
            <a:ext cx="238206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API integration, prompt design &amp; embeddings.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1350" y="3854648"/>
            <a:ext cx="1298432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E293B"/>
                </a:solidFill>
                <a:latin typeface="Gadugi" panose="020B0502040204020203" pitchFamily="34" charset="0"/>
              </a:rPr>
              <a:t>Simple RAG Systems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350" y="4016573"/>
            <a:ext cx="2359620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Vector DB integration &amp; document Q&amp;A logic.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1350" y="4464248"/>
            <a:ext cx="147316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166534"/>
                </a:solidFill>
                <a:latin typeface="Gadugi" panose="020B0502040204020203" pitchFamily="34" charset="0"/>
              </a:rPr>
              <a:t>CAPSTONE SHOWCASE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1350" y="4626173"/>
            <a:ext cx="237725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166534"/>
                </a:solidFill>
                <a:latin typeface="Gadugi" panose="020B0502040204020203" pitchFamily="34" charset="0"/>
              </a:rPr>
              <a:t>Final presentation of applied pathway projects.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40235"/>
            <a:ext cx="10972800" cy="21431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840235"/>
          <a:ext cx="10963273" cy="2143125"/>
        </p:xfrm>
        <a:graphic>
          <a:graphicData uri="http://schemas.openxmlformats.org/drawingml/2006/table">
            <a:tbl>
              <a:tblPr/>
              <a:tblGrid>
                <a:gridCol w="266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8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5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Module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Sessions &amp; Hours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Depth &amp; Focus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Practical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0F172A"/>
                          </a:solidFill>
                          <a:latin typeface="Gadugi" panose="020B0502040204020203" pitchFamily="34" charset="0"/>
                        </a:rPr>
                        <a:t>Module 1: Level 0 Programming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Sessions 1 – 12 (36 </a:t>
                      </a:r>
                      <a:r>
                        <a:rPr sz="975" b="0" i="0" u="none" dirty="0" err="1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hrs</a:t>
                      </a:r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Zero-to-Hero Programming, Git &amp; Data Cleanliness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Gadugi" panose="020B0502040204020203" pitchFamily="34" charset="0"/>
                        </a:rPr>
                        <a:t>Automated Data EDA CLI Tool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0F172A"/>
                          </a:solidFill>
                          <a:latin typeface="Gadugi" panose="020B0502040204020203" pitchFamily="34" charset="0"/>
                        </a:rPr>
                        <a:t>Module 2: Core Machine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Sessions 13 – 24 (36 </a:t>
                      </a:r>
                      <a:r>
                        <a:rPr sz="975" b="0" i="0" u="none" dirty="0" err="1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hrs</a:t>
                      </a:r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Full Depth Supervised ML &amp; Scikit-Learn Pipelines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Gadugi" panose="020B0502040204020203" pitchFamily="34" charset="0"/>
                        </a:rPr>
                        <a:t>End-to-End ML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0F172A"/>
                          </a:solidFill>
                          <a:latin typeface="Gadugi" panose="020B0502040204020203" pitchFamily="34" charset="0"/>
                        </a:rPr>
                        <a:t>Module 3: Core Deep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Sessions 25 – 36 (36 </a:t>
                      </a:r>
                      <a:r>
                        <a:rPr sz="975" b="0" i="0" u="none" dirty="0" err="1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hrs</a:t>
                      </a:r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 err="1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PyTorch</a:t>
                      </a:r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 Depth, CNNs &amp; Transfer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Gadugi" panose="020B0502040204020203" pitchFamily="34" charset="0"/>
                        </a:rPr>
                        <a:t>Custom </a:t>
                      </a:r>
                      <a:r>
                        <a:rPr sz="975" b="1" i="0" u="none" dirty="0" err="1">
                          <a:solidFill>
                            <a:srgbClr val="2563EB"/>
                          </a:solidFill>
                          <a:latin typeface="Gadugi" panose="020B0502040204020203" pitchFamily="34" charset="0"/>
                        </a:rPr>
                        <a:t>PyTorch</a:t>
                      </a:r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Gadugi" panose="020B0502040204020203" pitchFamily="34" charset="0"/>
                        </a:rPr>
                        <a:t>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0F172A"/>
                          </a:solidFill>
                          <a:latin typeface="Gadugi" panose="020B0502040204020203" pitchFamily="34" charset="0"/>
                        </a:rPr>
                        <a:t>Module 4: Surface Pathways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Sessions 37 – 48 (36 </a:t>
                      </a:r>
                      <a:r>
                        <a:rPr sz="975" b="0" i="0" u="none" dirty="0" err="1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hrs</a:t>
                      </a:r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Gadugi" panose="020B0502040204020203" pitchFamily="34" charset="0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Surface Level: </a:t>
                      </a:r>
                      <a:r>
                        <a:rPr sz="975" b="0" i="0" u="none" dirty="0" err="1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MLOps</a:t>
                      </a:r>
                      <a:r>
                        <a:rPr sz="975" b="0" i="0" u="none" dirty="0">
                          <a:solidFill>
                            <a:srgbClr val="334155"/>
                          </a:solidFill>
                          <a:latin typeface="Gadugi" panose="020B0502040204020203" pitchFamily="34" charset="0"/>
                        </a:rPr>
                        <a:t>, CV, NLP &amp; GenAI Demos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Gadugi" panose="020B0502040204020203" pitchFamily="34" charset="0"/>
                        </a:rPr>
                        <a:t>Applied Pathway Showcase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43345" y="6238875"/>
            <a:ext cx="3339055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5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TOTAL: 48 Sessions • 144 Hours • 4 Portfolio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724831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  <a:latin typeface="Gadugi" panose="020B0502040204020203" pitchFamily="34" charset="0"/>
              </a:rPr>
              <a:t>COMPREHENSIVE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23900"/>
            <a:ext cx="5279394" cy="3486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 dirty="0">
                <a:solidFill>
                  <a:srgbClr val="0F172A"/>
                </a:solidFill>
                <a:latin typeface="Gadugi" panose="020B0502040204020203" pitchFamily="34" charset="0"/>
              </a:rPr>
              <a:t>144-Hour Curriculum Summary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65770"/>
            <a:ext cx="476547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64748B"/>
                </a:solidFill>
                <a:latin typeface="Gadugi" panose="020B0502040204020203" pitchFamily="34" charset="0"/>
              </a:rPr>
              <a:t>Executive breakdown of time allocation, depth scope, and deliverables.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0250" y="4279552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74272" y="2549872"/>
            <a:ext cx="1843453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60A5FA"/>
                </a:solidFill>
                <a:latin typeface="Gadugi" panose="020B0502040204020203" pitchFamily="34" charset="0"/>
              </a:rPr>
              <a:t>READY FOR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8624" y="2816572"/>
            <a:ext cx="4474751" cy="551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AI </a:t>
            </a:r>
            <a:r>
              <a:rPr sz="3600" b="1" i="0" u="none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Engineering</a:t>
            </a:r>
            <a:r>
              <a:rPr sz="3600" b="1" i="0" u="none" dirty="0">
                <a:solidFill>
                  <a:srgbClr val="FFFFFF"/>
                </a:solidFill>
                <a:latin typeface="Gadugi" panose="020B0502040204020203" pitchFamily="34" charset="0"/>
              </a:rPr>
              <a:t>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517552"/>
            <a:ext cx="714375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Gadugi" panose="020B0502040204020203" pitchFamily="34" charset="0"/>
              </a:rPr>
              <a:t>48 Sessions • 144 Hours • Complete Deep Foundations &amp; Applied Pathways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1531</Words>
  <Application>Microsoft Office PowerPoint</Application>
  <PresentationFormat>Widescreen</PresentationFormat>
  <Paragraphs>257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Arial</vt:lpstr>
      <vt:lpstr>Gadugi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abdelrahman soliman</dc:creator>
  <cp:keywords/>
  <dc:description>generated using python-pptx</dc:description>
  <cp:lastModifiedBy>abdelrahman soliman</cp:lastModifiedBy>
  <cp:revision>4</cp:revision>
  <dcterms:created xsi:type="dcterms:W3CDTF">2013-01-27T09:14:16Z</dcterms:created>
  <dcterms:modified xsi:type="dcterms:W3CDTF">2026-10-19T17:02:54Z</dcterms:modified>
  <cp:category/>
</cp:coreProperties>
</file>