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Plus Jakarta Sans"/>
      <ns0:bold ns1:id="rIdFont19"/>
      <ns0:regular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83fc565a-ef7c-465c-875c-ce00acea59dc.fntdata" /><ns0:Relationship Id="rIdFont20" Type="http://schemas.openxmlformats.org/officeDocument/2006/relationships/font" Target="fonts/eeb5b463-1614-4eef-8dcd-fb201d078b85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107060"/>
            <a:ext cx="7143750" cy="781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107060"/>
            <a:ext cx="71437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969740"/>
            <a:ext cx="3381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OFFICIAL CURRICULUM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217390"/>
            <a:ext cx="8601075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Artificial Intelligence &amp;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508920"/>
            <a:ext cx="7846218" cy="293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From Pure Basics to Production Pro with End-to-End AI Projects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345185"/>
            <a:ext cx="249008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TARGET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488060"/>
            <a:ext cx="2087314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Plus Jakarta Sans"/>
              </a:rPr>
              <a:t>Pure Beginners to AI Engineers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19896" y="4345185"/>
            <a:ext cx="27272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9896" y="4488060"/>
            <a:ext cx="227707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Plus Jakarta Sans"/>
              </a:rPr>
              <a:t>First Principles + Production 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9948" y="4345185"/>
            <a:ext cx="216675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9948" y="4488060"/>
            <a:ext cx="1828651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Plus Jakarta Sans"/>
              </a:rPr>
              <a:t>Enterprise Portfolio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59298"/>
            <a:ext cx="3505200" cy="1781175"/>
          </a:xfrm>
          <a:prstGeom prst="roundRect">
            <a:avLst>
              <a:gd name="adj" fmla="val 6417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59298"/>
            <a:ext cx="3505200" cy="1781175"/>
          </a:xfrm>
          <a:prstGeom prst="roundRect">
            <a:avLst>
              <a:gd name="adj" fmla="val 6417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73598"/>
            <a:ext cx="3505200" cy="1552575"/>
          </a:xfrm>
          <a:prstGeom prst="roundRect">
            <a:avLst>
              <a:gd name="adj" fmla="val 7361"/>
            </a:avLst>
          </a:prstGeom>
          <a:solidFill>
            <a:srgbClr val="F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249810"/>
            <a:ext cx="219075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3249810"/>
            <a:ext cx="1905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3364110"/>
            <a:ext cx="238125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PROGRAM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Connecting Core Foundations to Modern Generative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0625" y="3225998"/>
            <a:ext cx="3400425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Pure First Principles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559373"/>
            <a:ext cx="30670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Build true mathematical and code intuition from Scratch—no black-box magic, starting from basic Python and linear algebra.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5850" y="3225998"/>
            <a:ext cx="3429000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Deep Learning &amp; GenAI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3559373"/>
            <a:ext cx="30670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Master modern PyTorch, Computer Vision, Transformers, LLM Fine-Tuning, and RAG systems using vector databases.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77275" y="3340298"/>
            <a:ext cx="3381375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Production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3673673"/>
            <a:ext cx="3067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Containerize AI models using Docker, build robust REST APIs with FastAPI, and deploy scalable ML services.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30660"/>
            <a:ext cx="5391150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2430660"/>
            <a:ext cx="5391150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45135"/>
            <a:ext cx="5391150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3945135"/>
            <a:ext cx="5391150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721173"/>
            <a:ext cx="14287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950" y="2721173"/>
            <a:ext cx="219075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4235648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7950" y="4235648"/>
            <a:ext cx="238125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LEARNING OUTCOMES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Core Engineering Competencies Developed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4425" y="2697360"/>
            <a:ext cx="5834062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Applied AI Mathematics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030735"/>
            <a:ext cx="4953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Master Linear Algebra, Vector Calculus, Optimization (Gradient Descent), and Probability required for deep modeling.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72275" y="2697360"/>
            <a:ext cx="5419725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Classical ML Pipelines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7950" y="3030735"/>
            <a:ext cx="4953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Implement Regression, Classification, Clustering, and Gradient Boosted Trees (XGBoost/LightGBM) with Scikit-Learn.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0" y="4211835"/>
            <a:ext cx="5786437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Neural Networks &amp; PyTorch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4545210"/>
            <a:ext cx="4953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Design, train, and debug Deep Neural Networks, CNNs, RNNs, and Attention mechanisms from scratch in PyTorch.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1325" y="4211835"/>
            <a:ext cx="5400675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Generative AI &amp; MLOps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7950" y="4545210"/>
            <a:ext cx="4953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Build production RAG pipelines, fine-tune LLMs, and containerize models with Docker &amp; FastAPI for real-world hosting.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92573"/>
            <a:ext cx="5324475" cy="2714625"/>
          </a:xfrm>
          <a:prstGeom prst="roundRect">
            <a:avLst>
              <a:gd name="adj" fmla="val 42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38875" y="2483048"/>
            <a:ext cx="5343525" cy="2733675"/>
          </a:xfrm>
          <a:prstGeom prst="roundRect">
            <a:avLst>
              <a:gd name="adj" fmla="val 418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6300" y="2759273"/>
            <a:ext cx="1219200" cy="2286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15100" y="2759273"/>
            <a:ext cx="1419225" cy="22860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492698"/>
            <a:ext cx="13335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797498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4102298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4407098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3492698"/>
            <a:ext cx="952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3797498"/>
            <a:ext cx="952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4102298"/>
            <a:ext cx="952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4711898"/>
            <a:ext cx="9525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AUDIENCE &amp; PREREQUISITES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Who Is This Course Designed For?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" y="2797373"/>
            <a:ext cx="10858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Target Audience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3064073"/>
            <a:ext cx="628828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Candidate Profiles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797373"/>
            <a:ext cx="12858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Entry Requirements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5100" y="3064073"/>
            <a:ext cx="56769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Zero High-Level Prerequisites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3416498"/>
            <a:ext cx="5988843" cy="30480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CS / STEM Students moving into AI research or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300" y="3721298"/>
            <a:ext cx="5988843" cy="30480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Software Engineers pivoting into Machine Learning roles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300" y="4026098"/>
            <a:ext cx="5988843" cy="30480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Data Analysts wanting to move beyond traditional BI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300" y="4330898"/>
            <a:ext cx="4886325" cy="609600"/>
          </a:xfrm>
          <a:prstGeom prst="rect">
            <a:avLst/>
          </a:prstGeom>
          <a:noFill/>
        </p:spPr>
        <p:txBody>
          <a:bodyPr wrap="square" lIns="20955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Motivated beginners looking for a complete end-to-end roadmap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5100" y="3416498"/>
            <a:ext cx="5676900" cy="304800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Basic high school algebra and logical problem-solving 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5100" y="3721298"/>
            <a:ext cx="5676900" cy="304800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General computer operations and software literacy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5100" y="4026098"/>
            <a:ext cx="4886325" cy="609600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No prior Python or Machine Learning knowledge strictly required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5100" y="4635698"/>
            <a:ext cx="5676900" cy="304800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Strong dedication to active hands-on coding labs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35510"/>
            <a:ext cx="1927919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70894" y="3135510"/>
            <a:ext cx="1927919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32189" y="3135510"/>
            <a:ext cx="1927919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93483" y="3135510"/>
            <a:ext cx="1927919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54778" y="3135510"/>
            <a:ext cx="1927919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135510"/>
            <a:ext cx="1927919" cy="381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70894" y="3135510"/>
            <a:ext cx="1927919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32189" y="3135510"/>
            <a:ext cx="1927919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93483" y="3135510"/>
            <a:ext cx="1927919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54778" y="3135510"/>
            <a:ext cx="1927919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819" y="3792735"/>
            <a:ext cx="104775" cy="1143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3114" y="3792735"/>
            <a:ext cx="104775" cy="1143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408" y="3792735"/>
            <a:ext cx="104775" cy="1143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5703" y="3792735"/>
            <a:ext cx="104775" cy="1143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CURRICULUM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5-Stage Master Roadmap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3440310"/>
            <a:ext cx="1743149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STAGE 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3602235"/>
            <a:ext cx="18303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Basics &amp; Math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3840360"/>
            <a:ext cx="148976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Python, NumPy, Linear Algebra, Calculus, Matrices.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37594" y="3440310"/>
            <a:ext cx="1743149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284C7"/>
                </a:solidFill>
                <a:latin typeface="Plus Jakarta Sans"/>
              </a:rPr>
              <a:t>STAGE 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37594" y="3602235"/>
            <a:ext cx="18303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Classical 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37594" y="3840360"/>
            <a:ext cx="148976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Regression, Trees, XGBoost, Clustering, Evaluation.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8889" y="3440310"/>
            <a:ext cx="1743149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7C3AED"/>
                </a:solidFill>
                <a:latin typeface="Plus Jakarta Sans"/>
              </a:rPr>
              <a:t>STAGE 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8889" y="3602235"/>
            <a:ext cx="18303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Deep Learning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8889" y="3840360"/>
            <a:ext cx="148976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PyTorch, Neural Networks, CNNs, Vision Models.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0183" y="3440310"/>
            <a:ext cx="1743149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D97706"/>
                </a:solidFill>
                <a:latin typeface="Plus Jakarta Sans"/>
              </a:rPr>
              <a:t>STAGE 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60183" y="3602235"/>
            <a:ext cx="18303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Generative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60183" y="3840360"/>
            <a:ext cx="148976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Transformers, Hugging Face, RAG &amp; Vector Databases.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478" y="3440310"/>
            <a:ext cx="1743149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59669"/>
                </a:solidFill>
                <a:latin typeface="Plus Jakarta Sans"/>
              </a:rPr>
              <a:t>STAGE 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478" y="3602235"/>
            <a:ext cx="18303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Pro MLOps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478" y="3840360"/>
            <a:ext cx="148976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FastAPI, Docker, Cloud Hosting &amp; CI/CD Deployment.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16398"/>
            <a:ext cx="5372100" cy="2466975"/>
          </a:xfrm>
          <a:prstGeom prst="roundRect">
            <a:avLst>
              <a:gd name="adj" fmla="val 46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730698"/>
            <a:ext cx="5372100" cy="2238375"/>
          </a:xfrm>
          <a:prstGeom prst="roundRect">
            <a:avLst>
              <a:gd name="adj" fmla="val 5106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906910"/>
            <a:ext cx="238125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3021210"/>
            <a:ext cx="190500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FOUNDATIONS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Stage 1 &amp; 2: Foundations, Math &amp; Classical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9675" y="2883098"/>
            <a:ext cx="5715000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Stage 1: AI Math &amp;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216473"/>
            <a:ext cx="493395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• Python OOP, Data Structures, and Vectorized operations in NumPy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Linear Algebra: Vectors, Matrices, Eigenvalues, Vector Spaces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Multivariate Calculus: Partial Derivatives &amp; Gradient Descent intuition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</a:t>
            </a:r>
            <a:r>
              <a:rPr b="1" sz="1200" i="0" u="none">
                <a:solidFill>
                  <a:srgbClr val="475569"/>
                </a:solidFill>
                <a:latin typeface="Plus Jakarta Sans"/>
              </a:rPr>
              <a:t>Project 1: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Writing a Gradient Descent Engine from Scratch in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750" y="2997398"/>
            <a:ext cx="5429250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Stage 2: Classical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3330773"/>
            <a:ext cx="493395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• Supervised Learning: Linear/Logistic Regression, Decision Trees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Ensemble Power: Random Forests, XGBoost, and LightGBM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Unsupervised Learning: K-Means Clustering, PCA Dimensionality Reduction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</a:t>
            </a:r>
            <a:r>
              <a:rPr b="1" sz="1200" i="0" u="none">
                <a:solidFill>
                  <a:srgbClr val="475569"/>
                </a:solidFill>
                <a:latin typeface="Plus Jakarta Sans"/>
              </a:rPr>
              <a:t>Project 2: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End-to-End Enterprise Customer Churn &amp; Pricing Predictor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16398"/>
            <a:ext cx="5372100" cy="2466975"/>
          </a:xfrm>
          <a:prstGeom prst="roundRect">
            <a:avLst>
              <a:gd name="adj" fmla="val 46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959298"/>
            <a:ext cx="5372100" cy="1781175"/>
          </a:xfrm>
          <a:prstGeom prst="roundRect">
            <a:avLst>
              <a:gd name="adj" fmla="val 6417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906910"/>
            <a:ext cx="190500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3249810"/>
            <a:ext cx="190500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DEEP LEARNING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Stage 3: Deep Neural Networks &amp; Computer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2883098"/>
            <a:ext cx="5762625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Neural Network Mechanics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216473"/>
            <a:ext cx="493395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• Deep Learning Foundations with PyTorch: Tensors, Autograd, Optimizers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Multi-Layer Perceptrons (MLPs) &amp; Custom Loss Functions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Computer Vision: Convolutional Neural Networks (CNNs) &amp; ResNet Transfer Learning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Regularization Techniques: Dropout, Batch Normalization, Data Augmentation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750" y="3225998"/>
            <a:ext cx="5429250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End-to-End Project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3559373"/>
            <a:ext cx="49339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Plus Jakarta Sans"/>
              </a:rPr>
              <a:t>Real-Time Medical Image Diagnostic Engine: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Building a fine-tuned Computer Vision classifier in PyTorch to detect medical anomalies from X-Ray/MRI imagery with automated heatmaps using Grad-CAM.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16398"/>
            <a:ext cx="5372100" cy="2466975"/>
          </a:xfrm>
          <a:prstGeom prst="roundRect">
            <a:avLst>
              <a:gd name="adj" fmla="val 46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959298"/>
            <a:ext cx="5372100" cy="1781175"/>
          </a:xfrm>
          <a:prstGeom prst="roundRect">
            <a:avLst>
              <a:gd name="adj" fmla="val 6417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906910"/>
            <a:ext cx="238125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3249810"/>
            <a:ext cx="190500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MODERN AI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Stage 4: Generative AI, Transformers &amp; LLMs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9675" y="2883098"/>
            <a:ext cx="5715000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Generative AI Architectures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216473"/>
            <a:ext cx="493395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• Sequence Modeling &amp; Attention Mechanisms (Self-Attention, Multi-Head)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The Transformer Architecture &amp; Hugging Face Ecosystem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Large Language Models (LLMs) &amp; Parameter Efficient Fine-Tuning (LoRA, PEFT)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Vector Databases (Pinecone/ChromaDB) &amp; Semantic Search RAG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750" y="3225998"/>
            <a:ext cx="5429250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End-to-End Project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3559373"/>
            <a:ext cx="49339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Plus Jakarta Sans"/>
              </a:rPr>
              <a:t>Enterprise Knowledge Base Copilot (RAG System):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Building a production-ready Generative AI assistant integrating custom PDF datasets, vector embeddings, re-ranking models, and an interactive interface.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16398"/>
            <a:ext cx="5372100" cy="2466975"/>
          </a:xfrm>
          <a:prstGeom prst="roundRect">
            <a:avLst>
              <a:gd name="adj" fmla="val 46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959298"/>
            <a:ext cx="5372100" cy="1781175"/>
          </a:xfrm>
          <a:prstGeom prst="roundRect">
            <a:avLst>
              <a:gd name="adj" fmla="val 6417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906910"/>
            <a:ext cx="190500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3249810"/>
            <a:ext cx="238125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PRO TRACK &amp; MLOPS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Stage 5: Pro Level MLOps &amp; Cloud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2883098"/>
            <a:ext cx="5762625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Production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216473"/>
            <a:ext cx="493395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• Packaging AI models into high-performance REST APIs with FastAPI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Containerizing model environments using Docker &amp; Docker Compose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Experiment Tracking, Lineage, and Model Registry with MLflow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Continuous Integration &amp; Continuous Deployment (CI/CD) pipelines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0375" y="3225998"/>
            <a:ext cx="5381625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Final Capstone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3559373"/>
            <a:ext cx="49339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Plus Jakarta Sans"/>
              </a:rPr>
              <a:t>Full-Stack Cloud AI Microservice: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Deploying a trained PyTorch / Transformer model packaged inside a Docker container onto AWS/GCP, monitored with MLflow and accessible via a production API.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59298"/>
            <a:ext cx="3505200" cy="1781175"/>
          </a:xfrm>
          <a:prstGeom prst="roundRect">
            <a:avLst>
              <a:gd name="adj" fmla="val 64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59298"/>
            <a:ext cx="3505200" cy="1781175"/>
          </a:xfrm>
          <a:prstGeom prst="roundRect">
            <a:avLst>
              <a:gd name="adj" fmla="val 64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59298"/>
            <a:ext cx="3505200" cy="1781175"/>
          </a:xfrm>
          <a:prstGeom prst="roundRect">
            <a:avLst>
              <a:gd name="adj" fmla="val 64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249810"/>
            <a:ext cx="238125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3249810"/>
            <a:ext cx="1905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3249810"/>
            <a:ext cx="19050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PEDAGOGY &amp;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The Active Learning &amp; Production Lab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9675" y="3225998"/>
            <a:ext cx="3381375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1. Code-First Math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559373"/>
            <a:ext cx="30670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Mathematical theory is introduced alongside live Jupyter notebook execution for immediate intuitive understanding.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5850" y="3225998"/>
            <a:ext cx="3429000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2. Code Reviews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3559373"/>
            <a:ext cx="30670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Weekly GitHub PR reviews by experienced senior AI engineers enforcing clean modular code and efficient architecture.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29650" y="3225998"/>
            <a:ext cx="3429000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3. Industrial Sprints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3559373"/>
            <a:ext cx="30670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Simulated sprint environments where students tackle messy enterprise datasets and deploy functional prototypes.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59285"/>
            <a:ext cx="3505200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59285"/>
            <a:ext cx="3505200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59285"/>
            <a:ext cx="3505200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EVALUATION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Multi-Tier Student Assessment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125985"/>
            <a:ext cx="371475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284C7"/>
                </a:solidFill>
                <a:latin typeface="Plus Jakarta Sans"/>
              </a:rP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592710"/>
            <a:ext cx="39004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End-to-End Projects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887985"/>
            <a:ext cx="3067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4 major milestone projects evaluated on code quality, model accuracy, and modular structure.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0100" y="3125985"/>
            <a:ext cx="371475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284C7"/>
                </a:solidFill>
                <a:latin typeface="Plus Jakarta Sans"/>
              </a:rP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0100" y="3592710"/>
            <a:ext cx="39004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Coding Labs &amp; Quizzes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3887985"/>
            <a:ext cx="3067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Weekly Python, PyTorch, and optimization challenges testing execution speed and logic.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3900" y="3125985"/>
            <a:ext cx="371475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284C7"/>
                </a:solidFill>
                <a:latin typeface="Plus Jakarta Sans"/>
              </a:rPr>
              <a:t>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3592710"/>
            <a:ext cx="38481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Capstone Cloud Defense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3887985"/>
            <a:ext cx="3067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Live technical presentation and architectural defense of the deployed cloud AI microservice.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33950" y="4414837"/>
            <a:ext cx="2324100" cy="428625"/>
          </a:xfrm>
          <a:prstGeom prst="roundRect">
            <a:avLst>
              <a:gd name="adj" fmla="val 17777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31593" y="2014537"/>
            <a:ext cx="1928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Plus Jakarta Sans"/>
              </a:rPr>
              <a:t>READY FOR 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381000" y="2262187"/>
            <a:ext cx="12954000" cy="1162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Plus Jakarta Sans"/>
              </a:rPr>
              <a:t>Empower Students with Production AI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26468" y="3576637"/>
            <a:ext cx="7739062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Complete syllabus, PyTorch notebooks, production labs, and MLOps deployment frameworks ready for immediate integration.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10137" y="4529137"/>
            <a:ext cx="23717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Accept Course Proposal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