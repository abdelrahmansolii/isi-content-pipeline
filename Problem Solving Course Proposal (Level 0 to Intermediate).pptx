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f095f1f7-81d4-4ef6-8200-8c40a97055b3.fntdata" /><ns0:Relationship Id="rIdFont20" Type="http://schemas.openxmlformats.org/officeDocument/2006/relationships/font" Target="fonts/5db6631f-c318-48f0-9ce4-3c57da49f69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107060"/>
            <a:ext cx="66675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07060"/>
            <a:ext cx="6667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969740"/>
            <a:ext cx="2881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Plus Jakarta Sans"/>
              </a:rPr>
              <a:t>OFFICIAL COURSE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17390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Problem Solving &amp; Algorithmic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08920"/>
            <a:ext cx="7584281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From Zero Foundations to Intermediate Competitive Mastery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45185"/>
            <a:ext cx="211894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88060"/>
            <a:ext cx="179040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Level 0 Beginners to 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2240" y="4345185"/>
            <a:ext cx="192192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DELIVERY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2240" y="4488060"/>
            <a:ext cx="16327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Hands-on Interactive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7271" y="4345185"/>
            <a:ext cx="274978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7271" y="4488060"/>
            <a:ext cx="229507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Technical Interview &amp; Contest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3598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73598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6411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64110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249810"/>
            <a:ext cx="2190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COURSE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Bridging the Gap Between Code Syntax and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3340298"/>
            <a:ext cx="3429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Core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73673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Students learn syntax easily, yet fail when facing unseen algorithmic problems during interviews and contests.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3475" y="33402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Structured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673673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 step-by-step framework converting raw problem statements into efficient code via systematic mental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8225" y="3225998"/>
            <a:ext cx="34004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Measurable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Students solve Codeforces Div 2 (A/B) and LeetCode Medium problems independently with time complexity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0660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430660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5135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45135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721173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721173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235648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4235648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LEARNING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Student Objectives Upon Completion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2697360"/>
            <a:ext cx="578643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Algorithmic Thinking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030735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Break down complex real-world problems into mathematical models and structured pseudocode step-by-step.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2697360"/>
            <a:ext cx="54673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Time &amp; Space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3030735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Calculate Big-O time complexity accurately and optimize algorithms from $O(N^2)$ down to $O(N \log N)$ or $O(1)$.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4211835"/>
            <a:ext cx="5757862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Data Structure Mastery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54521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Master Arrays, Vectors, Strings, Maps, Sets, Stacks, Queues, and Graph traversals in practice.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211835"/>
            <a:ext cx="54006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Competitive Coding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454521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Navigate Online Judges (Codeforces, LeetCode, VJudge) and pass automated testing constraints confidently.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4973"/>
            <a:ext cx="5324475" cy="2409825"/>
          </a:xfrm>
          <a:prstGeom prst="roundRect">
            <a:avLst>
              <a:gd name="adj" fmla="val 4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8875" y="2635448"/>
            <a:ext cx="5343525" cy="2428875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300" y="2911673"/>
            <a:ext cx="1219200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5100" y="2911673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645098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949898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254698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559498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645098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949898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254698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559498"/>
            <a:ext cx="952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ENTRY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Who Is This Course Designed For?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2949773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216473"/>
            <a:ext cx="628828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Ideal Student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949773"/>
            <a:ext cx="895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Prerequisites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216473"/>
            <a:ext cx="5676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 High-Level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5688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CS Freshmen seeking foundational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38736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Self-taught coders lacking computer science fundamentals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41784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Students targeting FAANG &amp; tech interview 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44832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Aspiring ICPC and competitive programming participants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35688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Basic Computer Literacy &amp; typing 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38736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Basic High School Algebra (Variables &amp; Functions)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41784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Zero prior coding experience strictly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44832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High commitment to daily problem solving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4560"/>
            <a:ext cx="2414587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62337" y="3068835"/>
            <a:ext cx="2414587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5075" y="3068835"/>
            <a:ext cx="2414587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7812" y="3068835"/>
            <a:ext cx="2414587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54560"/>
            <a:ext cx="2414587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62337" y="3068835"/>
            <a:ext cx="2414587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15075" y="3068835"/>
            <a:ext cx="2414587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67812" y="3068835"/>
            <a:ext cx="2414587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377368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77368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062" y="3773685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CURRICULUM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4-Stage Progressive Learning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459360"/>
            <a:ext cx="23514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STAGE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659385"/>
            <a:ext cx="24690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Level 0: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935610"/>
            <a:ext cx="19764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I/O, Loops, Conditionals, Arrays, and Syntax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9037" y="3373635"/>
            <a:ext cx="23514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STAGE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037" y="3573660"/>
            <a:ext cx="24690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Level 1: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037" y="3849885"/>
            <a:ext cx="197643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Complexity, Strings, Vectors, Maps/Sets, and Frequency Arrays.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3373635"/>
            <a:ext cx="23514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STAGE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573660"/>
            <a:ext cx="24690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Level 2: Techniques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849885"/>
            <a:ext cx="197643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Two Pointers, Prefix Sum, Binary Search, Greedy Choices.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4512" y="3373635"/>
            <a:ext cx="23514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STAGE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4512" y="3573660"/>
            <a:ext cx="24690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Level 3: Intermediate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4512" y="3849885"/>
            <a:ext cx="197643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Recursion, Number Theory, Basic Graphs (BFS/DFS), and DP Intro.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4998"/>
            <a:ext cx="5372100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35510"/>
            <a:ext cx="2190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2381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MODULE 1 SYLLABUS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Level 0: Syntax, I/O &amp; Basic Building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3111698"/>
            <a:ext cx="57340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Key Topics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45073"/>
            <a:ext cx="4933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Environment setup (VS Code, C++ STL Compiler)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Fast Input/Output standard operations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Conditional Logic &amp; Nested Branching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Iteration Mechanics (For, While, Do-While loops)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1D &amp; 2D Static Array Manipulations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375" y="3225998"/>
            <a:ext cx="5381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Practical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Solving 30+ Level-0 Practice Problems on VJudge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Avoiding common TLE &amp; Syntax runtime errors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Pattern Printing &amp; Math Series Summation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Building logic without relying on built-in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5473"/>
            <a:ext cx="53721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25985"/>
            <a:ext cx="2190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MODULE 2 SYLLABUS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Level 1: Complexity Analysis &amp; STL Data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3102173"/>
            <a:ext cx="57340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Key Topics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35548"/>
            <a:ext cx="493395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Big-O, Time Limits (10^8 ops/sec rule), Space Bounds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String Manipulation &amp; Fast Hashing Concepts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Dynamic Arrays (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std::vector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) &amp; Iterators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Frequency Arrays &amp; Counting Techniques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Associative Containers (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std::map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std::set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3225998"/>
            <a:ext cx="54292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Practical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Analyzing problem constraints before writing code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Solving Anagram &amp; Character Counting problems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Finding unique elements and range queries in $O(\log N)$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Contest 1: Standard Template Library Sprint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4998"/>
            <a:ext cx="5372100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3551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MODULE 3 SYLLABUS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Level 2: Essential Algorithmic Paradigm Paradigms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111698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45073"/>
            <a:ext cx="4933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Two Pointers Technique (Sliding Window)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Prefix Sums &amp; Partial Sum Queries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Binary Search on Answer &amp; Fractional Bisection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Sorting Mechanics &amp; Custom Comparators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Greedy Strategies &amp; Constructive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3225998"/>
            <a:ext cx="54292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Problem Solving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Transforming $O(N^2)$ brute-force to $O(N)$ sliding window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$O(1)$ Range Sum Queries execution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Binary searching monotonic functions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Tackling Codeforces Div 2 (A &amp; B) 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4998"/>
            <a:ext cx="5372100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35510"/>
            <a:ext cx="2190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1428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MODULE 4 SYLLABUS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Level 3: Intermediate Math, Graphs &amp; 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3111698"/>
            <a:ext cx="57340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Advanced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45073"/>
            <a:ext cx="4933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Recursion Trees &amp; Backtracking Foundations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Basic Number Theory (Sieve, GCD, Modular Math)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Graph Representation (Adjacency Matrix &amp; List)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Breadth-First Search (BFS) &amp; Depth-First Search (DFS)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Dynamic Programming (Memoization &amp; 0/1 Knapsack)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3225998"/>
            <a:ext cx="54768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Intermediate Mastery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Finding shortest paths on unweighted graphs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Generating prime factors in $O(\log N)$ time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Solving classic DP problems independently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Solving LeetCode Medium / Codeforces C problems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73598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73598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49810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64110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64110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PEDAGOGY &amp;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How the Course Is Taught: The Active Learning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9675" y="32259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Live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Live coding with purposeful mistakes to teach debugging, edge-case identification, and dry-running on whiteboards.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3475" y="33402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In-Class Drills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673673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15-minute solo problem-solving sprints following concept introductions for immediate retention.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7275" y="33402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Group Editorial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673673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Students present different approaches (brute force vs optimized) to foster peer learning and discussion.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928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73585"/>
            <a:ext cx="350520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73585"/>
            <a:ext cx="350520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EVALUATION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Multi-Tier Assessment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259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563EB"/>
                </a:solidFill>
                <a:latin typeface="Plus Jakarta Sans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9271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Weekly Sheet Submissions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87985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Curated problem sheets (10–15 problems weekly) on automated online judges.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2402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563EB"/>
                </a:solidFill>
                <a:latin typeface="Plus Jakarta Sans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70701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Live Contests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4002285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4 Timed competitive contests simulating real interview pressure on VJudge.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2402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563EB"/>
                </a:solidFill>
                <a:latin typeface="Plus Jakarta Sans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07010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Final Capstone &amp; 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002285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1-on-1 mock technical interview evaluating algorithmic explanation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3950" y="4124325"/>
            <a:ext cx="2324100" cy="428625"/>
          </a:xfrm>
          <a:prstGeom prst="roundRect">
            <a:avLst>
              <a:gd name="adj" fmla="val 1777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31593" y="2305050"/>
            <a:ext cx="1928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0A5FA"/>
                </a:solidFill>
                <a:latin typeface="Plus Jakarta Sans"/>
              </a:rPr>
              <a:t>READY FOR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125" y="2552700"/>
            <a:ext cx="1171575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Let's Build World-Class Problem Solvers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286125"/>
            <a:ext cx="773906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Complete course materials, automated judges, and problem sheets ready for immediate integration into your academy curriculum.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137" y="4238625"/>
            <a:ext cx="2371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Accept Course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