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0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0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0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0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0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0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5008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5008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5008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65008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0496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0496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0496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0496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0496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0496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15984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15984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15984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15984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15984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91472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91472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1472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1472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1472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91472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60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60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66960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66960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66960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60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42448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442448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42448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42448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42448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442448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17936" y="731520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917936" y="1389888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917936" y="2048256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917936" y="2706624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917936" y="3364991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917936" y="4023359"/>
            <a:ext cx="50292" cy="50292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955279" y="1143000"/>
            <a:ext cx="1280161" cy="45720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235440" y="1005840"/>
            <a:ext cx="1463040" cy="59436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55279" y="1143000"/>
            <a:ext cx="365761" cy="160020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5440" y="1600200"/>
            <a:ext cx="640080" cy="150876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9875520" y="1005840"/>
            <a:ext cx="822960" cy="210312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321040" y="2743200"/>
            <a:ext cx="1554480" cy="36576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875520" y="3108960"/>
            <a:ext cx="1097280" cy="91440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863840" y="2743200"/>
            <a:ext cx="457200" cy="201168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63840" y="4754880"/>
            <a:ext cx="1463040" cy="36576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326880" y="4754880"/>
            <a:ext cx="1188720" cy="36576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326880" y="3108960"/>
            <a:ext cx="548640" cy="201168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515600" y="4023360"/>
            <a:ext cx="457200" cy="731520"/>
          </a:xfrm>
          <a:prstGeom prst="line">
            <a:avLst/>
          </a:prstGeom>
          <a:ln w="2540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863840" y="105156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0" y="150876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607040" y="91440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229600" y="265176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784080" y="301752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881360" y="393192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72400" y="466344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235440" y="502920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424160" y="4663440"/>
            <a:ext cx="210312" cy="210312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OFFICIAL COURSE PROPOSAL  /  PRACTICAL AI SYSTEMS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1325880"/>
            <a:ext cx="6400800" cy="1508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5F8FC"/>
                </a:solidFill>
                <a:latin typeface="Aptos"/>
              </a:rPr>
              <a:t>AI AUTOMATION</a:t>
            </a:r>
          </a:p>
          <a:p>
            <a:pPr algn="l">
              <a:spcAft>
                <a:spcPts val="300"/>
              </a:spcAft>
            </a:pPr>
            <a:r>
              <a:rPr sz="3600" b="1">
                <a:solidFill>
                  <a:srgbClr val="F5F8FC"/>
                </a:solidFill>
                <a:latin typeface="Aptos"/>
              </a:rPr>
              <a:t>WITH n8n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" y="3127248"/>
            <a:ext cx="6035040" cy="8229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B1BFD3"/>
                </a:solidFill>
                <a:latin typeface="Aptos"/>
              </a:rPr>
              <a:t>From zero foundations to practical, production-ready business automation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31520" y="4160520"/>
            <a:ext cx="457200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731520" y="4498848"/>
            <a:ext cx="1353312" cy="8229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" y="4617720"/>
            <a:ext cx="1207008" cy="3108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DD4BF"/>
                </a:solidFill>
                <a:latin typeface="Aptos"/>
              </a:rPr>
              <a:t>36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010912"/>
            <a:ext cx="1261872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20" b="1">
                <a:solidFill>
                  <a:srgbClr val="B1BFD3"/>
                </a:solidFill>
                <a:latin typeface="Aptos"/>
              </a:rPr>
              <a:t>SESSIONS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212848" y="4498848"/>
            <a:ext cx="1353312" cy="8229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86000" y="4617720"/>
            <a:ext cx="1207008" cy="3108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B74D"/>
                </a:solidFill>
                <a:latin typeface="Aptos"/>
              </a:rPr>
              <a:t>108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58568" y="5010912"/>
            <a:ext cx="1261872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20" b="1">
                <a:solidFill>
                  <a:srgbClr val="B1BFD3"/>
                </a:solidFill>
                <a:latin typeface="Aptos"/>
              </a:rPr>
              <a:t>TOTAL HOURS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94176" y="4498848"/>
            <a:ext cx="1353312" cy="8229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67328" y="4617720"/>
            <a:ext cx="1207008" cy="3108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DD4BF"/>
                </a:solidFill>
                <a:latin typeface="Aptos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39896" y="5010912"/>
            <a:ext cx="1261872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20" b="1">
                <a:solidFill>
                  <a:srgbClr val="B1BFD3"/>
                </a:solidFill>
                <a:latin typeface="Aptos"/>
              </a:rPr>
              <a:t>WEEKS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175504" y="4498848"/>
            <a:ext cx="1353312" cy="8229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48656" y="4617720"/>
            <a:ext cx="1207008" cy="3108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DD4BF"/>
                </a:solidFill>
                <a:latin typeface="Aptos"/>
              </a:rPr>
              <a:t>3 × 3h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21224" y="5010912"/>
            <a:ext cx="1261872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20" b="1">
                <a:solidFill>
                  <a:srgbClr val="B1BFD3"/>
                </a:solidFill>
                <a:latin typeface="Aptos"/>
              </a:rPr>
              <a:t>WEEKLY FORMAT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961888"/>
            <a:ext cx="603504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Build workflows • Integrate APIs • Add AI • Deploy responsibly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01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 practical path from manual work to intelligent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A project-led program focused on building useful automations and delivering them responsibly.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321808" cy="129844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64008" cy="1298448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BUSINESS-FIRST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4974336" cy="7680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Identify repetitive work, map processes, and select valuable automation opportunities.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5321808" cy="129844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83080"/>
            <a:ext cx="64008" cy="129844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0195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WORKFLOW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4974336" cy="7680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Build maintainable workflows with triggers, logic, data transformation, and integrations.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55848"/>
            <a:ext cx="5321808" cy="129844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355848"/>
            <a:ext cx="64008" cy="129844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74720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AI WHERE IT ADDS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13048"/>
            <a:ext cx="4974336" cy="7680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Use LLMs, structured outputs, retrieval, and controlled tools for language-heavy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355848"/>
            <a:ext cx="5321808" cy="129844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3355848"/>
            <a:ext cx="64008" cy="1298448"/>
          </a:xfrm>
          <a:prstGeom prst="roundRect">
            <a:avLst>
              <a:gd name="adj" fmla="val 12000"/>
            </a:avLst>
          </a:prstGeom>
          <a:solidFill>
            <a:srgbClr val="70E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PRODUCTION MINDSET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13048"/>
            <a:ext cx="4974336" cy="76809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Test failures, protect credentials, monitor runs, and document handover.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193792"/>
            <a:ext cx="10698480" cy="53035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Outcome: learners finish with portfolio projects and a deployable capstone—not just copied templates.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02 / PROGRAM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Course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The schedule follows the requested delivery format.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587752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84831"/>
            <a:ext cx="2313432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12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32888"/>
            <a:ext cx="2258568" cy="32918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3 sessions every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874519"/>
            <a:ext cx="2587752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2084831"/>
            <a:ext cx="2313432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36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532888"/>
            <a:ext cx="2258568" cy="32918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Each session is 3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874519"/>
            <a:ext cx="2587752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084831"/>
            <a:ext cx="2313432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B74D"/>
                </a:solidFill>
                <a:latin typeface="Aptos"/>
              </a:rPr>
              <a:t>108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532888"/>
            <a:ext cx="2258568" cy="32918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Total guided learning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874519"/>
            <a:ext cx="2587752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2084831"/>
            <a:ext cx="2313432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6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532888"/>
            <a:ext cx="2258568" cy="32918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Foundations to professional 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5303520" cy="16459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85032"/>
            <a:ext cx="4956048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DELIVERY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23360"/>
            <a:ext cx="4956048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Live explanation + guided build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Hands-on lab in every session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Weekly assignment or checkpoint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Project work throughout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566160"/>
            <a:ext cx="5303520" cy="16459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356616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685032"/>
            <a:ext cx="4956048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COURSE DESIGN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023360"/>
            <a:ext cx="4956048" cy="11155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• Start at zero; no automation background required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• Learn concepts before adding complexity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• Use real APIs and business examples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• Practical production skills without extreme-scale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03 / ENROLLMENT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Who is this course designed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Zero-barrier entry, with a clear progression toward independent project delivery.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UNIVERSITY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3200400" cy="8869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Interested in AI, software, data, and practical digital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78308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78308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90195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ASPIRING AUTOMATION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240280"/>
            <a:ext cx="3200400" cy="8869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Want to connect apps and remove repetitive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78308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178308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901952"/>
            <a:ext cx="320040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F8FC"/>
                </a:solidFill>
                <a:latin typeface="Aptos"/>
              </a:rPr>
              <a:t>FREELANCERS &amp; 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240280"/>
            <a:ext cx="3200400" cy="8869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Want to build and maintain automations for teams or small businesses.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03320"/>
            <a:ext cx="493776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PREREQUISITES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6908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Basic computer and browser 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Comfortable following step-by-step instructions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No prior n8n or AI-agent experience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03320"/>
            <a:ext cx="493776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B74D"/>
                </a:solidFill>
                <a:latin typeface="Aptos"/>
              </a:rPr>
              <a:t>HELPFUL BUT NOT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06908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Basic spreadsheets and business processes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Some Python / JavaScript familiarity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• Willingness to test, debug, and learn by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04 /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What learners will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Measurable outcomes aligned with practical workflow delivery.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56232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83794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139696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Map a manual process into a trigger → logic → action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9164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56232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B74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837944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139696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Create workflows with expressions, JSON, branching, loops, and reusable sub-workflows.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154680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136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438144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Connect REST APIs, webhooks, apps, and PostgreSQL with suitable authentication.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90088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54680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B74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136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Apply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438144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Build structured LLM workflows and a grounded knowledge assistant.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88536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453127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43484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Operate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736592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Test edge cases, handle errors, protect secrets, and monitor executions.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88536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453127"/>
            <a:ext cx="50292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B74D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43484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736592"/>
            <a:ext cx="425196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80" b="0">
                <a:solidFill>
                  <a:srgbClr val="B1BFD3"/>
                </a:solidFill>
                <a:latin typeface="Aptos"/>
              </a:rPr>
              <a:t>Deploy a small solution, document it, and explain its business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05 /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How each 3-hour session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A consistent rhythm balances explanation, guided practice, and independent problem-solving.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7335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37944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00–30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719072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RECAP &amp;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19072"/>
            <a:ext cx="612648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Connect the topic to last session; explain the mental model.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249424"/>
            <a:ext cx="0" cy="256032"/>
          </a:xfrm>
          <a:prstGeom prst="line">
            <a:avLst/>
          </a:prstGeom>
          <a:ln w="1524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53288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30–75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78608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LIVE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78608"/>
            <a:ext cx="612648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Instructor demonstrates a small workflow and explains decisions.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0" y="3108960"/>
            <a:ext cx="0" cy="256032"/>
          </a:xfrm>
          <a:prstGeom prst="line">
            <a:avLst/>
          </a:prstGeom>
          <a:ln w="1524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392424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57016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75–135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438144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HANDS-ON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438144"/>
            <a:ext cx="612648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Learners build, modify, and debug a guided task.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45920" y="3968496"/>
            <a:ext cx="0" cy="256032"/>
          </a:xfrm>
          <a:prstGeom prst="line">
            <a:avLst/>
          </a:prstGeom>
          <a:ln w="1524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25196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16552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70E09E"/>
                </a:solidFill>
                <a:latin typeface="Aptos"/>
              </a:rPr>
              <a:t>135–165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97680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297680"/>
            <a:ext cx="612648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Complete an extension or handle a realistic edge case.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20" y="4828032"/>
            <a:ext cx="0" cy="256032"/>
          </a:xfrm>
          <a:prstGeom prst="line">
            <a:avLst/>
          </a:prstGeom>
          <a:ln w="1524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" y="511149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276088"/>
            <a:ext cx="164592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165–180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157216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157216"/>
            <a:ext cx="6126480" cy="43891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Test results, discuss failures, and set the next task.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6062472"/>
            <a:ext cx="1042416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Every session ends with a tangible output, a debugging lesson, or a measurable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06 / CURRICULUM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Six stages. One end-to-end skill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Each stage contains 6 sessions × 3 hours = 18 guided hours.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9019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FOUNDATIONS &amp; N8N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01–06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5420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18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17373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19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4A90E2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9019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WORKFLOW LOGIC &amp;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420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07–12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25420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18 hours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7373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74519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B74D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9019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APIs, WEBHOOKS &amp; 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420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13–18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35056" y="25420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18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5661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703320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70E09E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7307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LLMS &amp; AI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3708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19–24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43708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70E09E"/>
                </a:solidFill>
                <a:latin typeface="Aptos"/>
              </a:rPr>
              <a:t>18 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5661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703320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37307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RAG, AGENTS &amp; RELIABILITY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43708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25–30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43708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18 hours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9328" y="3566160"/>
            <a:ext cx="3547872" cy="141732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3703320"/>
            <a:ext cx="502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B74D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730752"/>
            <a:ext cx="2560320" cy="47548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DEPLOYMENT &amp; CAPSTONE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437083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Sessions 31–36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35056" y="4370832"/>
            <a:ext cx="9144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18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Automation mindset &amp; n8n 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01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Automation thinking &amp; process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Automation vs AI automation; identify repetitive tasks; triggers, actions, inputs, outputs; map a business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Draw a process map and choose an automation candidate.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n8n interface &amp; first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Cloud vs self-hosted overview; canvas, nodes, connections, executions; manual trigger; activate vs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Build a first workflow and inspect its execution.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Triggers, schedules &amp;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Manual and Schedule triggers; basic app actions; workflow naming; execution history; safe test messages.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Create a scheduled reminder or notification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01 · FOUNDATIONS &amp; N8N BASICS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Workflow anatomy &amp; working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02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Items, JSON &amp; 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JSON objects and arrays; items; node input/output; field paths; inspect sample payloads.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Trace a record through connected nodes.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Expressions &amp; dynamic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Expression editor; referencing previous nodes; string/date formatting; fallback values; common errors.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Create personalized messages from dynamic fields.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Build Lab 01: office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Combine trigger, data mapping, notification; workflow naming; test cases; review and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Mini-project: form or schedule → transform data → notify.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01 · FOUNDATIONS &amp; N8N BASICS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Conditions, routing &amp; data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03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IF, Switch &amp;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Conditional branches; comparisons; null/missing values; routing by category or priority.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Route incoming requests to different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Merge, loops &amp; batch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Merge strategies; looping through items; batching; aggregation; avoid unnecessary loops.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Process a list of records and combine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Code node essentials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When to use Code; JavaScript basics; arrays and objects; map/filter patterns; readable logic.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Transform a messy dataset in a Code node.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02 · WORKFLOW LOGIC &amp;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Reusable workflows &amp; dependable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04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Dates, files &amp; data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Date/time handling; text normalization; CSV/spreadsheet data; binary data basics.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Normalize contact data and prepare a clean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Sub-workflows &amp; reusable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Call a sub-workflow; define inputs/outputs; modular design; avoid duplicated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Extract a repeated task into a reusable workflow.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Errors, retries &amp; debugging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Read node errors; retry transient failures; Error Trigger basics; alerting; safe failure paths.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Build an error-notification path and test a deliberate failure.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02 · WORKFLOW LOGIC &amp;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HTTP, REST APIs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05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HTTP and REST API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Requests/responses; GET/POST/PATCH/DELETE; headers, query parameters, body; status codes.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Call a public API and extract useful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HTTP Request node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Authentication options; pagination; response parsing; rate limits; timeout and retry strategy.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Collect API results into a clean dataset.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API authentication &amp; 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API keys, bearer tokens, OAuth overview; credential storage; scopes and least privilege.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Connect a service using secure credentials.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03 · APIS, WEBHOOKS &amp; DATABASES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Webhooks, apps &amp;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06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Webhooks &amp; event-driven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Test vs production URLs; payload validation; event-driven design; public endpoints and tunnel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Receive a webhook and validate its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App integrations &amp; cross-system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Email, spreadsheets, forms, chat, calendar or CRM integrations; map fields between systems.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Synchronize records between two services.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PostgreSQL &amp; data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Tables and keys; basic SQL CRUD; parameterized queries; store workflow status; deduplication.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Save webhook events to PostgreSQL and prevent duplicates.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03 · APIS, WEBHOOKS &amp; DATABASES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LLM foundations &amp; structured AI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07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LLMs for automation: strengths &amp;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Tokens and context; model selection; cost and latency; hallucinations; use rules/code when better.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Choose where AI helps in a sample business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Prompt design &amp; structured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System/user prompts; examples; constraints; JSON schema concepts; parse and validate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Classify messages into validated JSON.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AI-powered text &amp; document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Summarization, extraction, classification, sentiment; document inputs; confidence and fallback logic.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Build an AI email or document triage workflow.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04 · LLMS &amp; AI WORKFLOWS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AI nodes, tools &amp; human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08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AI nodes, chains &amp; model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Connect a supported model; prompt templates; pass context; inspect model outputs and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Create a prompt-driven workflow with structured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AI agents &amp; tool calling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Agent vs chain; tools and descriptions; constrained tool access; stopping conditions; practical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Build a small agent that uses approved tools.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Human approval &amp; AI workflow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Approval gates; draft-before-send; escalation; prompt injection awareness; evaluate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AI assistant drafts an action for human approval.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04 · LLMS &amp; AI WORKFLOWS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Knowledge bases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09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Document ingestion &amp; retrieval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PDF/text ingestion; extraction; chunking; metadata; source documents and access considerations.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Prepare a small searchable knowledge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Embeddings &amp; vector search 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What embeddings represent; similarity search; vector database options; metadata filters.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Create embeddings and retrieve relevant chunks.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Build a grounded RAG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Retrieval → context → answer; source references; unknown-answer fallback; evaluation examples.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Answer questions from a small policy or FAQ knowledge base.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05 · RAG, AGENTS &amp; RELIABILITY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Agent workflows, safety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10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Agent workflow design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Tool selection; structured tool inputs; persistent data vs conversational memory; limits and timeouts.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Create a bounded agent that retrieves records and recommends next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Security, privacy &amp; safe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Credential protection; least privilege; sensitive data; untrusted inputs; prompt injection; approval for consequential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Threat-model an AI workflow and add safety controls.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Testing, monitoring &amp; 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Happy-path and edge-case tests; retries vs duplicate side effects; logs; alerts; runbook basics.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Test failures and produce a monitoring/recovery plan.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05 · RAG, AGENTS &amp; RELIABILITY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Deployment &amp; operating a small production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11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Deployment choices &amp; Docker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n8n Cloud vs self-hosting; environment variables; Docker and Compose concepts; persistent volumes.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Run a simple containerized service or map a deployment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Domains, HTTPS &amp; secure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Public webhook URLs; DNS and reverse proxy concepts; HTTPS; firewall basics; secure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Prepare a deployment checklist for a small production workflow.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Backups, upgrades &amp;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PostgreSQL backups; restore concepts; versioning; update planning; execution retention; operating costs.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Write a backup, update, and recovery checklist.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06 · DEPLOYMENT &amp; CAPSTONE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07 / SESSION-BY-SESSION SYLLABUS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Capstone integration, review &amp;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Three 3-hour sessions. Each session includes topic coverage and a practical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310896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1F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76688" y="352044"/>
            <a:ext cx="1444752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WEEK 12 / 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73352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73352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SESSION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92224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Capstone build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130552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Combine triggers, APIs, data persistence, AI where appropriate, and notifications; define acceptance criteria.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87752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2DD4BF"/>
                </a:solidFill>
                <a:latin typeface="Aptos"/>
              </a:rPr>
              <a:t>PRACTICAL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51176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Working end-to-end capstone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18104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64408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4A90E2"/>
                </a:solidFill>
                <a:latin typeface="Aptos"/>
              </a:rPr>
              <a:t>SESSION 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236976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Capstone testing &amp; delivery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75304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Test invalid data, duplicates, API failures, AI uncertainty, approvals; documentation; demo preparation.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32504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4A90E2"/>
                </a:solidFill>
                <a:latin typeface="Aptos"/>
              </a:rPr>
              <a:t>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Release candidate with tests, README, and workflow export.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62856"/>
            <a:ext cx="10881360" cy="1243584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562856"/>
            <a:ext cx="100584" cy="1243584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09160"/>
            <a:ext cx="11430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FFB74D"/>
                </a:solidFill>
                <a:latin typeface="Aptos"/>
              </a:rPr>
              <a:t>SESSION 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681728"/>
            <a:ext cx="9052560" cy="28346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Project showcase &amp; professional handover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20056"/>
            <a:ext cx="10287000" cy="40233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Demonstration; architecture explanation; value and limitations; peer review; maintenance and next steps.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477256"/>
            <a:ext cx="96012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FB74D"/>
                </a:solidFill>
                <a:latin typeface="Aptos"/>
              </a:rPr>
              <a:t>PRACTICAL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80"/>
            <a:ext cx="923544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10" b="0">
                <a:solidFill>
                  <a:srgbClr val="F5F8FC"/>
                </a:solidFill>
                <a:latin typeface="Aptos"/>
              </a:rPr>
              <a:t>Present capstone, test evidence, and handover documentation.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144768"/>
            <a:ext cx="1060704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MODULE 06 · DEPLOYMENT &amp; CAPSTONE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08 / SIGNATURE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Capstone: an AI-enabled 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Learners select a realistic business problem and build a complete, testable automation around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0195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90195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12848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Form, webhook, email, or scheduled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90195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B74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3" y="190195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212848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Check fields, normalize data, detect duplicates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737360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90195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190195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ENRICH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212848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Call an API or retrieve business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63239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22783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B74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22783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538727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Use rules first; AI for language tasks when useful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063239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22783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3" y="322783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3" y="3538727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Human approval for sensitive or external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3063239"/>
            <a:ext cx="34930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227832"/>
            <a:ext cx="411480" cy="34747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B74D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227832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EXECUTE &amp;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3538727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1BFD3"/>
                </a:solidFill>
                <a:latin typeface="Aptos"/>
              </a:rPr>
              <a:t>Update systems, notify, and record outcome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45152"/>
            <a:ext cx="5303520" cy="98755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4645152"/>
            <a:ext cx="64008" cy="987552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64024"/>
            <a:ext cx="4956048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REQUIRED CAPSTONE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02352"/>
            <a:ext cx="4956048" cy="4572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Workflow export, architecture diagram, test cases, failure handling, README, and a short demo.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4645152"/>
            <a:ext cx="5303520" cy="98755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9632" y="4645152"/>
            <a:ext cx="64008" cy="987552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764024"/>
            <a:ext cx="4956048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SUCCESS CRITERIA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102352"/>
            <a:ext cx="4956048" cy="4572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Solves a real problem; handles common failures; uses credentials safely; explains impact and limits.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09 /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Assessment built around demonstrated 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Suggested grading model for an institution-led delivery; weights can be adapted to local policy.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9656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WEEKLY LABS &amp; CHECKPOINTS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792224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92224"/>
            <a:ext cx="612648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Small workflows, debugging tasks, and short reflections.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78024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90E2"/>
                </a:solidFill>
                <a:latin typeface="Aptos"/>
              </a:rPr>
              <a:t>INTEGRATION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624328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624328"/>
            <a:ext cx="612648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API/webhook/database workflow with validation and error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10128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83864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B74D"/>
                </a:solidFill>
                <a:latin typeface="Aptos"/>
              </a:rPr>
              <a:t>AI WORKFLOW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456432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456432"/>
            <a:ext cx="612648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Structured AI output or RAG assistant with evaluation and safe fallback.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142232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E09E"/>
                </a:solidFill>
                <a:latin typeface="Aptos"/>
              </a:rPr>
              <a:t>CAPSTONE &amp;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288536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288536"/>
            <a:ext cx="612648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End-to-end solution, testing, documentation, and presentation.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74336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48072"/>
            <a:ext cx="2834640" cy="237744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PARTICIPATION &amp;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12064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5120640"/>
            <a:ext cx="612648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Peer feedback, technical explanation, and responsible practice.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4241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DD4BF"/>
                </a:solidFill>
                <a:latin typeface="Aptos"/>
              </a:rPr>
              <a:t>Recommended minimum: submit major projects and demonstrate that the workflow works—not only that it exists.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10 / TOOLS &amp;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Tools learners will work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Use free tiers and local development where possible; paid APIs or hosting may be optional.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19656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CORE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57984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n8n; official documentation; workflow templates.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700784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700784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9656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DATA &amp;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57984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JSON; HTTP/REST; webhooks; spreadsheets; email/chat apps; PostgreSQL.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99232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2999232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18104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AI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456432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An LLM API or compatible model; structured outputs; embeddings; a vector store for RAG.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2999232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2999232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70E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18104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56432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Git/GitHub; basic JavaScript; optional Python; Docker basics; logs and test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97680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297680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41655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754880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n8n Cloud or self-hosted instance; domain/HTTPS for relevant deployment exercises.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297680"/>
            <a:ext cx="5321808" cy="102412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59" y="4297680"/>
            <a:ext cx="64008" cy="1024128"/>
          </a:xfrm>
          <a:prstGeom prst="roundRect">
            <a:avLst>
              <a:gd name="adj" fmla="val 12000"/>
            </a:avLst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1655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COST &amp;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4974336" cy="49377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API accounts may require billing; use test data and never share secrets.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11 / PROFESSIONAL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From workflow builder to automation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A repeatable delivery process for freelance, internal, or product 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1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Understand the current process, pain points, users, and success metric.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73736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73736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56231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19456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Choose triggers, data sources, permissions, failure paths, and acceptance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73736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0183" y="173736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856231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219456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Implement in small steps; use reusable components and versioned exports.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5468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15468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70E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73552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1188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Test valid, invalid, duplicate, timeout, and AI-uncertain cases.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315468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07992" y="315468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273552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HAND 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61188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Provide README, architecture, ownership, runbook, and demo.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0183" y="3154680"/>
            <a:ext cx="3493008" cy="1115568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0183" y="3154680"/>
            <a:ext cx="64008" cy="111556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3" y="3273552"/>
            <a:ext cx="31455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5F8FC"/>
                </a:solidFill>
                <a:latin typeface="Aptos"/>
              </a:rP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3" y="3611880"/>
            <a:ext cx="3145536" cy="58521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9" b="0">
                <a:solidFill>
                  <a:srgbClr val="B1BFD3"/>
                </a:solidFill>
                <a:latin typeface="Aptos"/>
              </a:rPr>
              <a:t>Monitor results, estimate value, and refine based on real usage.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 professional deliverable is tested, explainable, secure, documented, and maintainable—not merely a workflow that ran once.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12 / SCOPE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Professional scope—without unnecessary extreme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Target: practical independence and small-to-medium business delivery, not hyperscale infrastructure engineering.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5285232" cy="315468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64008" cy="3154680"/>
          </a:xfrm>
          <a:prstGeom prst="roundRect">
            <a:avLst>
              <a:gd name="adj" fmla="val 12000"/>
            </a:avLst>
          </a:prstGeom>
          <a:solidFill>
            <a:srgbClr val="70E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93776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INCLUDED IN THIS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4937760" cy="26243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Core n8n workflow design and debugging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REST APIs, webhooks, credentials, PostgreSQL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LLM prompts and structured 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Introductory agents with constrained tools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RAG fundamentals and grounded answers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Human approval, testing, error handling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Docker and small-scale deployment basics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Documentation, handover, and business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755648"/>
            <a:ext cx="5285232" cy="3154680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755648"/>
            <a:ext cx="64008" cy="3154680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74519"/>
            <a:ext cx="4937760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NOT A CORE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12848"/>
            <a:ext cx="4937760" cy="262432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Multi-agent orchestration architectures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Large-scale queue/worker tuning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Kubernetes or complex cloud infrastructure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Training or fine-tuning foundation models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Building a vector database from scratch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Fully autonomous high-risk actions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B1BFD3"/>
                </a:solidFill>
                <a:latin typeface="Aptos"/>
              </a:rPr>
              <a:t>• Deep distributed-systems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3327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Advanced topics can be explored later as optional extensions after learners can build and maintain reliable systems.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13 / 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What learners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A portfolio of evidence showing technical ability and practical judgement.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1051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WORKFLOW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4884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3–5 exported workflows with clear names, sample inputs, and documented outputs.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169164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INTEGRATION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A workflow connecting an API/webhook to persistent storage with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1752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01752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36391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AI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47472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An AI-assisted workflow or grounded RAG assistant with safe fallback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01752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301752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70E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36391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A working end-to-end automation for a realistic business process.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4340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34340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46227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TECHNICAL 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80060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README, architecture diagram, test cases, limitations, and maintenance notes.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343400"/>
            <a:ext cx="5321808" cy="1042415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59" y="4343400"/>
            <a:ext cx="64008" cy="1042415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62272"/>
            <a:ext cx="4974336" cy="29260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F8FC"/>
                </a:solidFill>
                <a:latin typeface="Aptos"/>
              </a:rPr>
              <a:t>DEMO &amp;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800600"/>
            <a:ext cx="4974336" cy="512063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>
                <a:solidFill>
                  <a:srgbClr val="B1BFD3"/>
                </a:solidFill>
                <a:latin typeface="Aptos"/>
              </a:rPr>
              <a:t>Short demonstration explaining problem, solution, results, and next improvements.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8229600" cy="2286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DD4BF"/>
                </a:solidFill>
                <a:latin typeface="Aptos"/>
              </a:rPr>
              <a:t>14 / PROGRAM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 clear 12-week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B1BFD3"/>
                </a:solidFill>
                <a:latin typeface="Aptos"/>
              </a:rPr>
              <a:t>Each two-week block builds toward the capstone, with practical work from week one.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2938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W01–02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1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87752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92938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W03–04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221991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WORKFLOW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587752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92938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W05–06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221991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587752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91839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43814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W07–08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73075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AI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96511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291839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343814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W09–10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373075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RAG &amp; 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1" y="4096511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3291839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3438144"/>
            <a:ext cx="1143000" cy="219456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W11–12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730752"/>
            <a:ext cx="3108960" cy="25603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5F8FC"/>
                </a:solidFill>
                <a:latin typeface="Aptos"/>
              </a:rPr>
              <a:t>DEPLOY &amp; CAPSTONE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096511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B1BFD3"/>
                </a:solidFill>
                <a:latin typeface="Aptos"/>
              </a:rPr>
              <a:t>6 sessions · 18h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241280" cy="4572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B74D"/>
                </a:solidFill>
                <a:latin typeface="Aptos"/>
              </a:rPr>
              <a:t>12 weeks × 3 sessions/week × 3 hours/session = 108 guided hours.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COURSE PROPOSAL  / 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583680" cy="11887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5F8FC"/>
                </a:solidFill>
                <a:latin typeface="Aptos"/>
              </a:rPr>
              <a:t>Build useful systems.</a:t>
            </a:r>
          </a:p>
          <a:p>
            <a:pPr algn="l">
              <a:spcAft>
                <a:spcPts val="300"/>
              </a:spcAft>
            </a:pPr>
            <a:r>
              <a:rPr sz="3200" b="1">
                <a:solidFill>
                  <a:srgbClr val="F5F8FC"/>
                </a:solidFill>
                <a:latin typeface="Aptos"/>
              </a:rPr>
              <a:t>Deliver real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26080"/>
            <a:ext cx="6035040" cy="68580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B1BFD3"/>
                </a:solidFill>
                <a:latin typeface="Aptos"/>
              </a:rPr>
              <a:t>A zero-to-professional learning journey in workflow automation, AI integration, and responsible delivery.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4005072"/>
            <a:ext cx="4736592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4315968"/>
            <a:ext cx="585216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B74D"/>
                </a:solidFill>
                <a:latin typeface="Aptos"/>
              </a:rPr>
              <a:t>36 SESSIONS  •  108 HOURS  •  12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919472"/>
            <a:ext cx="6035040" cy="50292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1417320"/>
            <a:ext cx="3840480" cy="3840480"/>
          </a:xfrm>
          <a:prstGeom prst="ellipse">
            <a:avLst/>
          </a:prstGeom>
          <a:noFill/>
          <a:ln w="25400">
            <a:solidFill>
              <a:srgbClr val="1F3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5400" y="1920240"/>
            <a:ext cx="2834640" cy="2834640"/>
          </a:xfrm>
          <a:prstGeom prst="ellipse">
            <a:avLst/>
          </a:prstGeom>
          <a:noFill/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64040" y="2468880"/>
            <a:ext cx="1737360" cy="1737360"/>
          </a:xfrm>
          <a:prstGeom prst="ellipse">
            <a:avLst/>
          </a:prstGeom>
          <a:noFill/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5742432"/>
            <a:ext cx="2926080" cy="32004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FROM ZERO TO REAL-WORLD AUTOMATION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1F33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B1BFD3"/>
                </a:solidFill>
                <a:latin typeface="Aptos"/>
              </a:rPr>
              <a:t>AI AUTOMATION WITH n8n  •  COURSE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lIns="45720" rIns="45720" t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2DD4B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Automation with n8n: Zero to Professional</dc:title>
  <dc:subject>36-session, 108-hour course proposal</dc:subject>
  <dc:creator>OpenAI</dc:creator>
  <cp:keywords>n8n, AI automation, workflow automation, APIs, RAG, AI agents, course proposal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